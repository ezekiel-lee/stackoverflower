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68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9" r:id="rId12"/>
    <p:sldId id="265" r:id="rId13"/>
    <p:sldId id="266" r:id="rId14"/>
    <p:sldId id="267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8B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zekiel Lee" userId="e414848d3e613f40" providerId="LiveId" clId="{71984B6F-1EAC-4C18-897F-02C80AB87C54}"/>
    <pc:docChg chg="undo custSel modSld">
      <pc:chgData name="Ezekiel Lee" userId="e414848d3e613f40" providerId="LiveId" clId="{71984B6F-1EAC-4C18-897F-02C80AB87C54}" dt="2026-08-18T06:02:19.801" v="98" actId="6549"/>
      <pc:docMkLst>
        <pc:docMk/>
      </pc:docMkLst>
      <pc:sldChg chg="modSp mod">
        <pc:chgData name="Ezekiel Lee" userId="e414848d3e613f40" providerId="LiveId" clId="{71984B6F-1EAC-4C18-897F-02C80AB87C54}" dt="2026-08-18T05:22:39.030" v="56" actId="20577"/>
        <pc:sldMkLst>
          <pc:docMk/>
          <pc:sldMk cId="0" sldId="256"/>
        </pc:sldMkLst>
        <pc:spChg chg="mod">
          <ac:chgData name="Ezekiel Lee" userId="e414848d3e613f40" providerId="LiveId" clId="{71984B6F-1EAC-4C18-897F-02C80AB87C54}" dt="2026-08-17T03:23:27.341" v="7" actId="1076"/>
          <ac:spMkLst>
            <pc:docMk/>
            <pc:sldMk cId="0" sldId="256"/>
            <ac:spMk id="3" creationId="{00000000-0000-0000-0000-000000000000}"/>
          </ac:spMkLst>
        </pc:spChg>
        <pc:spChg chg="mod">
          <ac:chgData name="Ezekiel Lee" userId="e414848d3e613f40" providerId="LiveId" clId="{71984B6F-1EAC-4C18-897F-02C80AB87C54}" dt="2026-08-18T05:22:39.030" v="56" actId="20577"/>
          <ac:spMkLst>
            <pc:docMk/>
            <pc:sldMk cId="0" sldId="256"/>
            <ac:spMk id="9" creationId="{00000000-0000-0000-0000-000000000000}"/>
          </ac:spMkLst>
        </pc:spChg>
      </pc:sldChg>
      <pc:sldChg chg="delSp modSp mod">
        <pc:chgData name="Ezekiel Lee" userId="e414848d3e613f40" providerId="LiveId" clId="{71984B6F-1EAC-4C18-897F-02C80AB87C54}" dt="2026-08-17T02:28:13.956" v="6" actId="1076"/>
        <pc:sldMkLst>
          <pc:docMk/>
          <pc:sldMk cId="0" sldId="257"/>
        </pc:sldMkLst>
        <pc:spChg chg="mod">
          <ac:chgData name="Ezekiel Lee" userId="e414848d3e613f40" providerId="LiveId" clId="{71984B6F-1EAC-4C18-897F-02C80AB87C54}" dt="2026-08-17T02:28:13.956" v="6" actId="1076"/>
          <ac:spMkLst>
            <pc:docMk/>
            <pc:sldMk cId="0" sldId="257"/>
            <ac:spMk id="4" creationId="{00000000-0000-0000-0000-000000000000}"/>
          </ac:spMkLst>
        </pc:spChg>
        <pc:spChg chg="mod">
          <ac:chgData name="Ezekiel Lee" userId="e414848d3e613f40" providerId="LiveId" clId="{71984B6F-1EAC-4C18-897F-02C80AB87C54}" dt="2026-08-17T02:26:28.271" v="1" actId="6549"/>
          <ac:spMkLst>
            <pc:docMk/>
            <pc:sldMk cId="0" sldId="257"/>
            <ac:spMk id="6" creationId="{00000000-0000-0000-0000-000000000000}"/>
          </ac:spMkLst>
        </pc:spChg>
        <pc:picChg chg="del">
          <ac:chgData name="Ezekiel Lee" userId="e414848d3e613f40" providerId="LiveId" clId="{71984B6F-1EAC-4C18-897F-02C80AB87C54}" dt="2026-08-17T02:26:25.567" v="0" actId="478"/>
          <ac:picMkLst>
            <pc:docMk/>
            <pc:sldMk cId="0" sldId="257"/>
            <ac:picMk id="5" creationId="{00000000-0000-0000-0000-000000000000}"/>
          </ac:picMkLst>
        </pc:picChg>
      </pc:sldChg>
      <pc:sldChg chg="modSp mod">
        <pc:chgData name="Ezekiel Lee" userId="e414848d3e613f40" providerId="LiveId" clId="{71984B6F-1EAC-4C18-897F-02C80AB87C54}" dt="2026-08-18T04:12:18.879" v="12" actId="20577"/>
        <pc:sldMkLst>
          <pc:docMk/>
          <pc:sldMk cId="0" sldId="258"/>
        </pc:sldMkLst>
        <pc:spChg chg="mod">
          <ac:chgData name="Ezekiel Lee" userId="e414848d3e613f40" providerId="LiveId" clId="{71984B6F-1EAC-4C18-897F-02C80AB87C54}" dt="2026-08-18T04:12:15.582" v="10" actId="20577"/>
          <ac:spMkLst>
            <pc:docMk/>
            <pc:sldMk cId="0" sldId="258"/>
            <ac:spMk id="18" creationId="{00000000-0000-0000-0000-000000000000}"/>
          </ac:spMkLst>
        </pc:spChg>
        <pc:spChg chg="mod">
          <ac:chgData name="Ezekiel Lee" userId="e414848d3e613f40" providerId="LiveId" clId="{71984B6F-1EAC-4C18-897F-02C80AB87C54}" dt="2026-08-18T04:12:18.879" v="12" actId="20577"/>
          <ac:spMkLst>
            <pc:docMk/>
            <pc:sldMk cId="0" sldId="258"/>
            <ac:spMk id="23" creationId="{00000000-0000-0000-0000-000000000000}"/>
          </ac:spMkLst>
        </pc:spChg>
      </pc:sldChg>
      <pc:sldChg chg="addSp delSp modSp mod">
        <pc:chgData name="Ezekiel Lee" userId="e414848d3e613f40" providerId="LiveId" clId="{71984B6F-1EAC-4C18-897F-02C80AB87C54}" dt="2026-08-18T04:13:59.827" v="42" actId="207"/>
        <pc:sldMkLst>
          <pc:docMk/>
          <pc:sldMk cId="0" sldId="260"/>
        </pc:sldMkLst>
        <pc:spChg chg="add del mod">
          <ac:chgData name="Ezekiel Lee" userId="e414848d3e613f40" providerId="LiveId" clId="{71984B6F-1EAC-4C18-897F-02C80AB87C54}" dt="2026-08-18T04:13:59.827" v="42" actId="207"/>
          <ac:spMkLst>
            <pc:docMk/>
            <pc:sldMk cId="0" sldId="260"/>
            <ac:spMk id="8" creationId="{00000000-0000-0000-0000-000000000000}"/>
          </ac:spMkLst>
        </pc:spChg>
        <pc:spChg chg="mod">
          <ac:chgData name="Ezekiel Lee" userId="e414848d3e613f40" providerId="LiveId" clId="{71984B6F-1EAC-4C18-897F-02C80AB87C54}" dt="2026-08-18T04:13:21.922" v="35" actId="20577"/>
          <ac:spMkLst>
            <pc:docMk/>
            <pc:sldMk cId="0" sldId="260"/>
            <ac:spMk id="9" creationId="{00000000-0000-0000-0000-000000000000}"/>
          </ac:spMkLst>
        </pc:spChg>
        <pc:spChg chg="mod">
          <ac:chgData name="Ezekiel Lee" userId="e414848d3e613f40" providerId="LiveId" clId="{71984B6F-1EAC-4C18-897F-02C80AB87C54}" dt="2026-08-18T04:13:46.142" v="40" actId="207"/>
          <ac:spMkLst>
            <pc:docMk/>
            <pc:sldMk cId="0" sldId="260"/>
            <ac:spMk id="14" creationId="{00000000-0000-0000-0000-000000000000}"/>
          </ac:spMkLst>
        </pc:spChg>
        <pc:spChg chg="add del mod">
          <ac:chgData name="Ezekiel Lee" userId="e414848d3e613f40" providerId="LiveId" clId="{71984B6F-1EAC-4C18-897F-02C80AB87C54}" dt="2026-08-18T04:13:16.356" v="27" actId="22"/>
          <ac:spMkLst>
            <pc:docMk/>
            <pc:sldMk cId="0" sldId="260"/>
            <ac:spMk id="51" creationId="{308B2529-4576-68E5-6000-6EB58106D02C}"/>
          </ac:spMkLst>
        </pc:spChg>
      </pc:sldChg>
      <pc:sldChg chg="modSp mod">
        <pc:chgData name="Ezekiel Lee" userId="e414848d3e613f40" providerId="LiveId" clId="{71984B6F-1EAC-4C18-897F-02C80AB87C54}" dt="2026-08-18T06:02:19.801" v="98" actId="6549"/>
        <pc:sldMkLst>
          <pc:docMk/>
          <pc:sldMk cId="0" sldId="265"/>
        </pc:sldMkLst>
        <pc:spChg chg="mod">
          <ac:chgData name="Ezekiel Lee" userId="e414848d3e613f40" providerId="LiveId" clId="{71984B6F-1EAC-4C18-897F-02C80AB87C54}" dt="2026-08-18T06:01:45.306" v="68" actId="20577"/>
          <ac:spMkLst>
            <pc:docMk/>
            <pc:sldMk cId="0" sldId="265"/>
            <ac:spMk id="15" creationId="{00000000-0000-0000-0000-000000000000}"/>
          </ac:spMkLst>
        </pc:spChg>
        <pc:spChg chg="mod">
          <ac:chgData name="Ezekiel Lee" userId="e414848d3e613f40" providerId="LiveId" clId="{71984B6F-1EAC-4C18-897F-02C80AB87C54}" dt="2026-08-18T06:01:53.425" v="74" actId="20577"/>
          <ac:spMkLst>
            <pc:docMk/>
            <pc:sldMk cId="0" sldId="265"/>
            <ac:spMk id="24" creationId="{00000000-0000-0000-0000-000000000000}"/>
          </ac:spMkLst>
        </pc:spChg>
        <pc:spChg chg="mod">
          <ac:chgData name="Ezekiel Lee" userId="e414848d3e613f40" providerId="LiveId" clId="{71984B6F-1EAC-4C18-897F-02C80AB87C54}" dt="2026-08-18T06:01:57.038" v="76" actId="20577"/>
          <ac:spMkLst>
            <pc:docMk/>
            <pc:sldMk cId="0" sldId="265"/>
            <ac:spMk id="33" creationId="{00000000-0000-0000-0000-000000000000}"/>
          </ac:spMkLst>
        </pc:spChg>
        <pc:spChg chg="mod">
          <ac:chgData name="Ezekiel Lee" userId="e414848d3e613f40" providerId="LiveId" clId="{71984B6F-1EAC-4C18-897F-02C80AB87C54}" dt="2026-08-18T06:02:04.150" v="83" actId="20577"/>
          <ac:spMkLst>
            <pc:docMk/>
            <pc:sldMk cId="0" sldId="265"/>
            <ac:spMk id="42" creationId="{00000000-0000-0000-0000-000000000000}"/>
          </ac:spMkLst>
        </pc:spChg>
        <pc:spChg chg="mod">
          <ac:chgData name="Ezekiel Lee" userId="e414848d3e613f40" providerId="LiveId" clId="{71984B6F-1EAC-4C18-897F-02C80AB87C54}" dt="2026-08-18T06:02:13.025" v="91" actId="20577"/>
          <ac:spMkLst>
            <pc:docMk/>
            <pc:sldMk cId="0" sldId="265"/>
            <ac:spMk id="51" creationId="{00000000-0000-0000-0000-000000000000}"/>
          </ac:spMkLst>
        </pc:spChg>
        <pc:spChg chg="mod">
          <ac:chgData name="Ezekiel Lee" userId="e414848d3e613f40" providerId="LiveId" clId="{71984B6F-1EAC-4C18-897F-02C80AB87C54}" dt="2026-08-18T06:02:19.801" v="98" actId="6549"/>
          <ac:spMkLst>
            <pc:docMk/>
            <pc:sldMk cId="0" sldId="265"/>
            <ac:spMk id="60" creationId="{00000000-0000-0000-0000-000000000000}"/>
          </ac:spMkLst>
        </pc:spChg>
      </pc:sldChg>
      <pc:sldChg chg="delSp modSp mod">
        <pc:chgData name="Ezekiel Lee" userId="e414848d3e613f40" providerId="LiveId" clId="{71984B6F-1EAC-4C18-897F-02C80AB87C54}" dt="2026-08-18T04:15:00.655" v="45" actId="1076"/>
        <pc:sldMkLst>
          <pc:docMk/>
          <pc:sldMk cId="0" sldId="266"/>
        </pc:sldMkLst>
        <pc:spChg chg="mod">
          <ac:chgData name="Ezekiel Lee" userId="e414848d3e613f40" providerId="LiveId" clId="{71984B6F-1EAC-4C18-897F-02C80AB87C54}" dt="2026-08-18T04:15:00.655" v="45" actId="1076"/>
          <ac:spMkLst>
            <pc:docMk/>
            <pc:sldMk cId="0" sldId="266"/>
            <ac:spMk id="14" creationId="{00000000-0000-0000-0000-000000000000}"/>
          </ac:spMkLst>
        </pc:spChg>
        <pc:spChg chg="del">
          <ac:chgData name="Ezekiel Lee" userId="e414848d3e613f40" providerId="LiveId" clId="{71984B6F-1EAC-4C18-897F-02C80AB87C54}" dt="2026-08-18T04:14:56.924" v="44" actId="478"/>
          <ac:spMkLst>
            <pc:docMk/>
            <pc:sldMk cId="0" sldId="266"/>
            <ac:spMk id="20" creationId="{00000000-0000-0000-0000-000000000000}"/>
          </ac:spMkLst>
        </pc:spChg>
        <pc:spChg chg="mod">
          <ac:chgData name="Ezekiel Lee" userId="e414848d3e613f40" providerId="LiveId" clId="{71984B6F-1EAC-4C18-897F-02C80AB87C54}" dt="2026-08-18T04:14:55.698" v="43" actId="20577"/>
          <ac:spMkLst>
            <pc:docMk/>
            <pc:sldMk cId="0" sldId="266"/>
            <ac:spMk id="21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A2E4D"/>
                </a:solidFill>
                <a:latin typeface="Calibri"/>
              </a:defRPr>
            </a:pPr>
            <a:r>
              <a:rPr lang="en-AU" sz="1200" b="0" i="0" u="none" strike="noStrike">
                <a:solidFill>
                  <a:srgbClr val="0A2E4D"/>
                </a:solidFill>
                <a:latin typeface="Calibri"/>
              </a:rPr>
              <a:t>Story Points Remaining — Sprint 2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Remaining work (pts)</c:v>
                </c:pt>
              </c:strCache>
            </c:strRef>
          </c:tx>
          <c:spPr>
            <a:ln w="31750" cap="flat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strRef>
              <c:f>Sheet1!$A$2:$A$14</c:f>
              <c:strCache>
                <c:ptCount val="13"/>
                <c:pt idx="0">
                  <c:v>10 Aug</c:v>
                </c:pt>
                <c:pt idx="1">
                  <c:v>11 Aug</c:v>
                </c:pt>
                <c:pt idx="2">
                  <c:v>12 Aug</c:v>
                </c:pt>
                <c:pt idx="3">
                  <c:v>13 Aug</c:v>
                </c:pt>
                <c:pt idx="4">
                  <c:v>14 Aug</c:v>
                </c:pt>
                <c:pt idx="5">
                  <c:v>15 Aug</c:v>
                </c:pt>
                <c:pt idx="6">
                  <c:v>16 Aug</c:v>
                </c:pt>
                <c:pt idx="7">
                  <c:v>17 Aug</c:v>
                </c:pt>
                <c:pt idx="8">
                  <c:v>Today</c:v>
                </c:pt>
                <c:pt idx="9">
                  <c:v>19 Aug</c:v>
                </c:pt>
                <c:pt idx="10">
                  <c:v>21 Aug</c:v>
                </c:pt>
                <c:pt idx="11">
                  <c:v>23 Aug</c:v>
                </c:pt>
                <c:pt idx="12">
                  <c:v>24 Aug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58</c:v>
                </c:pt>
                <c:pt idx="1">
                  <c:v>58</c:v>
                </c:pt>
                <c:pt idx="2">
                  <c:v>35</c:v>
                </c:pt>
                <c:pt idx="3">
                  <c:v>35</c:v>
                </c:pt>
                <c:pt idx="4">
                  <c:v>35</c:v>
                </c:pt>
                <c:pt idx="5">
                  <c:v>35</c:v>
                </c:pt>
                <c:pt idx="6">
                  <c:v>27</c:v>
                </c:pt>
                <c:pt idx="7">
                  <c:v>32</c:v>
                </c:pt>
                <c:pt idx="8">
                  <c:v>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508-4765-B033-8803550FCBC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Guideline (ideal burn)</c:v>
                </c:pt>
              </c:strCache>
            </c:strRef>
          </c:tx>
          <c:spPr>
            <a:ln w="31750" cap="flat">
              <a:solidFill>
                <a:srgbClr val="B9C4C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B9C4CB"/>
              </a:solidFill>
              <a:ln w="9525" cap="flat">
                <a:solidFill>
                  <a:srgbClr val="B9C4CB"/>
                </a:solidFill>
                <a:prstDash val="solid"/>
                <a:round/>
              </a:ln>
              <a:effectLst/>
            </c:spPr>
          </c:marker>
          <c:cat>
            <c:strRef>
              <c:f>Sheet1!$A$2:$A$14</c:f>
              <c:strCache>
                <c:ptCount val="13"/>
                <c:pt idx="0">
                  <c:v>10 Aug</c:v>
                </c:pt>
                <c:pt idx="1">
                  <c:v>11 Aug</c:v>
                </c:pt>
                <c:pt idx="2">
                  <c:v>12 Aug</c:v>
                </c:pt>
                <c:pt idx="3">
                  <c:v>13 Aug</c:v>
                </c:pt>
                <c:pt idx="4">
                  <c:v>14 Aug</c:v>
                </c:pt>
                <c:pt idx="5">
                  <c:v>15 Aug</c:v>
                </c:pt>
                <c:pt idx="6">
                  <c:v>16 Aug</c:v>
                </c:pt>
                <c:pt idx="7">
                  <c:v>17 Aug</c:v>
                </c:pt>
                <c:pt idx="8">
                  <c:v>Today</c:v>
                </c:pt>
                <c:pt idx="9">
                  <c:v>19 Aug</c:v>
                </c:pt>
                <c:pt idx="10">
                  <c:v>21 Aug</c:v>
                </c:pt>
                <c:pt idx="11">
                  <c:v>23 Aug</c:v>
                </c:pt>
                <c:pt idx="12">
                  <c:v>24 Aug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58</c:v>
                </c:pt>
                <c:pt idx="1">
                  <c:v>54</c:v>
                </c:pt>
                <c:pt idx="2">
                  <c:v>50</c:v>
                </c:pt>
                <c:pt idx="3">
                  <c:v>46</c:v>
                </c:pt>
                <c:pt idx="4">
                  <c:v>41</c:v>
                </c:pt>
                <c:pt idx="5">
                  <c:v>37</c:v>
                </c:pt>
                <c:pt idx="6">
                  <c:v>33</c:v>
                </c:pt>
                <c:pt idx="7">
                  <c:v>29</c:v>
                </c:pt>
                <c:pt idx="8">
                  <c:v>27</c:v>
                </c:pt>
                <c:pt idx="9">
                  <c:v>21</c:v>
                </c:pt>
                <c:pt idx="10">
                  <c:v>12</c:v>
                </c:pt>
                <c:pt idx="11">
                  <c:v>4</c:v>
                </c:pt>
                <c:pt idx="12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508-4765-B033-8803550FCBC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B6B7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A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B76"/>
                    </a:solidFill>
                    <a:latin typeface="Arial"/>
                  </a:defRPr>
                </a:pPr>
                <a:r>
                  <a:rPr lang="en-AU" sz="1000" b="0" i="0" u="none" strike="noStrike">
                    <a:solidFill>
                      <a:srgbClr val="5B6B76"/>
                    </a:solidFill>
                    <a:latin typeface="Arial"/>
                  </a:rPr>
                  <a:t>Story points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>
              <a:solidFill>
                <a:srgbClr val="5B6B76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32799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2.png"/><Relationship Id="rId9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E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F3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8483803" y="-1849755"/>
            <a:ext cx="6400800" cy="640080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Shape 2"/>
          <p:cNvSpPr/>
          <p:nvPr/>
        </p:nvSpPr>
        <p:spPr>
          <a:xfrm>
            <a:off x="-2194560" y="4206240"/>
            <a:ext cx="5486400" cy="5486400"/>
          </a:xfrm>
          <a:prstGeom prst="ellipse">
            <a:avLst/>
          </a:prstGeom>
          <a:solidFill>
            <a:srgbClr val="1C7293">
              <a:alpha val="15000"/>
            </a:srgbClr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548640" y="54864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" y="619963"/>
            <a:ext cx="405994" cy="4059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548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A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STACKOVERFLOWER  ·  DSS WEARABLE APP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2331720"/>
            <a:ext cx="11064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2 Scrum Master Review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548640" y="3566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  ·  3 – 17 Aug 2026  ·  La Trobe Capstone Project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48640" y="4160520"/>
            <a:ext cx="20116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8"/>
          <p:cNvSpPr/>
          <p:nvPr/>
        </p:nvSpPr>
        <p:spPr>
          <a:xfrm>
            <a:off x="548640" y="43891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Young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 (Sprint 2) · Backend Developer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DSS Wearable App · StackOverflower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912776"/>
            <a:ext cx="3108960" cy="3837120"/>
          </a:xfrm>
          <a:prstGeom prst="ellipse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9050">
            <a:solidFill>
              <a:srgbClr val="1C7293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3"/>
          <p:cNvSpPr/>
          <p:nvPr/>
        </p:nvSpPr>
        <p:spPr>
          <a:xfrm>
            <a:off x="365760" y="417880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749040" y="1600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Young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3749040" y="205740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 (Sprint 2)  ·  Backend Developer  ·  3rd-Year Software Engineering Student, La Trobe University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749040" y="2825496"/>
            <a:ext cx="91440" cy="9144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0" name="Text 7"/>
          <p:cNvSpPr/>
          <p:nvPr/>
        </p:nvSpPr>
        <p:spPr>
          <a:xfrm>
            <a:off x="4023360" y="2670048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A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goal:  </a:t>
            </a: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 Software Engineer role in Melbourne, with a growing focus on backend/cloud systems and Agile delivery — expected to graduate in 2026.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749040" y="3739896"/>
            <a:ext cx="91440" cy="9144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2" name="Text 9"/>
          <p:cNvSpPr/>
          <p:nvPr/>
        </p:nvSpPr>
        <p:spPr>
          <a:xfrm>
            <a:off x="4023360" y="3584448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A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Specialization:  </a:t>
            </a: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development with a backend focus: FastAPI, PostgreSQL, Firebase, React/React Native, TypeScript, plus a strong C++/OOP foundation.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3749040" y="4654296"/>
            <a:ext cx="91440" cy="9144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4" name="Text 11"/>
          <p:cNvSpPr/>
          <p:nvPr/>
        </p:nvSpPr>
        <p:spPr>
          <a:xfrm>
            <a:off x="4023360" y="4498848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A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alignment:  </a:t>
            </a: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health-tech sits across mobile (Expo/React Native), backend APIs, and IoT/BLE — a space actively hired for by health-tech startups and cloud-native consultancies in Melbourne.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3749040" y="5568696"/>
            <a:ext cx="91440" cy="9144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6" name="Text 13"/>
          <p:cNvSpPr/>
          <p:nvPr/>
        </p:nvSpPr>
        <p:spPr>
          <a:xfrm>
            <a:off x="4023360" y="5413248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A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pathway (draft — to confirm):  </a:t>
            </a: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Considering Professional Scrum Master I (PSM I) to formalize this sprint’s scrum-master experience, alongside an AWS Certified Cloud Practitioner track for the backend/cloud direction.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DSS Wearable App · StackOverflower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the StackOverflower Team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students building the DSS Wearable App together this sprint.</a:t>
            </a:r>
            <a:endParaRPr lang="en-US" sz="1400" dirty="0"/>
          </a:p>
        </p:txBody>
      </p:sp>
      <p:sp>
        <p:nvSpPr>
          <p:cNvPr id="5" name="Card"/>
          <p:cNvSpPr/>
          <p:nvPr/>
        </p:nvSpPr>
        <p:spPr>
          <a:xfrm>
            <a:off x="548640" y="2050000"/>
            <a:ext cx="3547800" cy="215856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>
            <a:solidFill>
              <a:srgbClr val="E8EEF2"/>
            </a:solidFill>
          </a:ln>
          <a:effectLst>
            <a:outerShdw blurRad="76200" dist="25400" dir="5400000" algn="bl" rotWithShape="0">
              <a:srgbClr val="9DB4C4">
                <a:alpha val="35000"/>
              </a:srgbClr>
            </a:outerShdw>
          </a:effectLst>
        </p:spPr>
        <p:txBody>
          <a:bodyPr/>
          <a:lstStyle/>
          <a:p>
            <a:endParaRPr lang="en-AU" dirty="0"/>
          </a:p>
        </p:txBody>
      </p:sp>
      <p:sp>
        <p:nvSpPr>
          <p:cNvPr id="6" name="Avatar"/>
          <p:cNvSpPr/>
          <p:nvPr/>
        </p:nvSpPr>
        <p:spPr>
          <a:xfrm>
            <a:off x="1956780" y="2194560"/>
            <a:ext cx="731520" cy="815560"/>
          </a:xfrm>
          <a:prstGeom prst="ellipse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/>
        </p:spPr>
        <p:txBody>
          <a:bodyPr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7" name="Name"/>
          <p:cNvSpPr/>
          <p:nvPr/>
        </p:nvSpPr>
        <p:spPr>
          <a:xfrm>
            <a:off x="548640" y="3101560"/>
            <a:ext cx="354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 err="1">
                <a:solidFill>
                  <a:srgbClr val="0A2E4D"/>
                </a:solidFill>
                <a:latin typeface="Cambria" pitchFamily="34" charset="0"/>
              </a:rPr>
              <a:t>Young-ho</a:t>
            </a:r>
            <a:r>
              <a:rPr lang="en-US" sz="1600" b="1" dirty="0">
                <a:solidFill>
                  <a:srgbClr val="0A2E4D"/>
                </a:solidFill>
                <a:latin typeface="Cambria" pitchFamily="34" charset="0"/>
              </a:rPr>
              <a:t> Lee</a:t>
            </a:r>
            <a:endParaRPr lang="en-US" sz="1600" dirty="0"/>
          </a:p>
        </p:txBody>
      </p:sp>
      <p:sp>
        <p:nvSpPr>
          <p:cNvPr id="8" name="Role"/>
          <p:cNvSpPr/>
          <p:nvPr/>
        </p:nvSpPr>
        <p:spPr>
          <a:xfrm>
            <a:off x="640080" y="3467320"/>
            <a:ext cx="3364920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</a:rPr>
              <a:t>Scrum Master (Sprint 2) · Backend Developer</a:t>
            </a:r>
            <a:endParaRPr lang="en-US" sz="1100" dirty="0"/>
          </a:p>
        </p:txBody>
      </p:sp>
      <p:sp>
        <p:nvSpPr>
          <p:cNvPr id="9" name="Bio"/>
          <p:cNvSpPr/>
          <p:nvPr/>
        </p:nvSpPr>
        <p:spPr>
          <a:xfrm>
            <a:off x="777240" y="3833040"/>
            <a:ext cx="3090600" cy="75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i="1" dirty="0">
                <a:solidFill>
                  <a:srgbClr val="5B6B76"/>
                </a:solidFill>
                <a:latin typeface="Calibri" pitchFamily="34" charset="0"/>
              </a:rPr>
              <a:t>Leads backend development and this sprint’s Scrum Master duties — full intro on the previous slide.</a:t>
            </a:r>
            <a:endParaRPr lang="en-US" sz="900" dirty="0"/>
          </a:p>
        </p:txBody>
      </p:sp>
      <p:sp>
        <p:nvSpPr>
          <p:cNvPr id="10" name="Card"/>
          <p:cNvSpPr/>
          <p:nvPr/>
        </p:nvSpPr>
        <p:spPr>
          <a:xfrm>
            <a:off x="4370760" y="2050000"/>
            <a:ext cx="3547800" cy="215856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>
            <a:solidFill>
              <a:srgbClr val="E8EEF2"/>
            </a:solidFill>
          </a:ln>
          <a:effectLst>
            <a:outerShdw blurRad="76200" dist="25400" dir="5400000" algn="bl" rotWithShape="0">
              <a:srgbClr val="9DB4C4">
                <a:alpha val="3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1" name="Avatar"/>
          <p:cNvSpPr/>
          <p:nvPr/>
        </p:nvSpPr>
        <p:spPr>
          <a:xfrm>
            <a:off x="5778900" y="2278600"/>
            <a:ext cx="731520" cy="731520"/>
          </a:xfrm>
          <a:prstGeom prst="ellipse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/>
        </p:spPr>
        <p:txBody>
          <a:bodyPr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2" name="Name"/>
          <p:cNvSpPr/>
          <p:nvPr/>
        </p:nvSpPr>
        <p:spPr>
          <a:xfrm>
            <a:off x="4370760" y="3101560"/>
            <a:ext cx="354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br>
              <a:rPr lang="ko-KR" altLang="ko-KR" sz="1600" b="1" dirty="0">
                <a:solidFill>
                  <a:srgbClr val="242424"/>
                </a:solidFill>
              </a:rPr>
            </a:br>
            <a:r>
              <a:rPr lang="ko-KR" altLang="ko-KR" sz="1600" b="1" dirty="0" err="1">
                <a:solidFill>
                  <a:srgbClr val="242424"/>
                </a:solidFill>
                <a:latin typeface="Cambria" panose="02040503050406030204" pitchFamily="18" charset="0"/>
              </a:rPr>
              <a:t>Iman</a:t>
            </a:r>
            <a:r>
              <a:rPr lang="ko-KR" altLang="ko-KR" sz="1600" b="1" dirty="0">
                <a:solidFill>
                  <a:srgbClr val="242424"/>
                </a:solidFill>
                <a:latin typeface="Cambria" panose="02040503050406030204" pitchFamily="18" charset="0"/>
              </a:rPr>
              <a:t> </a:t>
            </a:r>
            <a:r>
              <a:rPr lang="ko-KR" altLang="ko-KR" sz="1600" b="1" dirty="0" err="1">
                <a:solidFill>
                  <a:srgbClr val="242424"/>
                </a:solidFill>
                <a:latin typeface="Cambria" panose="02040503050406030204" pitchFamily="18" charset="0"/>
              </a:rPr>
              <a:t>Singh</a:t>
            </a:r>
            <a:r>
              <a:rPr lang="ko-KR" altLang="ko-KR" sz="1600" b="1" dirty="0">
                <a:solidFill>
                  <a:srgbClr val="242424"/>
                </a:solidFill>
                <a:latin typeface="Cambria" panose="02040503050406030204" pitchFamily="18" charset="0"/>
              </a:rPr>
              <a:t> </a:t>
            </a:r>
            <a:r>
              <a:rPr lang="ko-KR" altLang="ko-KR" sz="1600" b="1" dirty="0" err="1">
                <a:solidFill>
                  <a:srgbClr val="242424"/>
                </a:solidFill>
                <a:latin typeface="Cambria" panose="02040503050406030204" pitchFamily="18" charset="0"/>
              </a:rPr>
              <a:t>Gurung</a:t>
            </a:r>
            <a:endParaRPr lang="en-US" sz="16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Role"/>
          <p:cNvSpPr/>
          <p:nvPr/>
        </p:nvSpPr>
        <p:spPr>
          <a:xfrm>
            <a:off x="4462200" y="3467320"/>
            <a:ext cx="3364920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</a:rPr>
              <a:t>Frontend Developer</a:t>
            </a:r>
            <a:endParaRPr lang="en-US" sz="1100" dirty="0"/>
          </a:p>
        </p:txBody>
      </p:sp>
      <p:sp>
        <p:nvSpPr>
          <p:cNvPr id="14" name="Bio"/>
          <p:cNvSpPr/>
          <p:nvPr/>
        </p:nvSpPr>
        <p:spPr>
          <a:xfrm>
            <a:off x="4599360" y="3833040"/>
            <a:ext cx="3090600" cy="75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>
              <a:lnSpc>
                <a:spcPct val="112000"/>
              </a:lnSpc>
            </a:pPr>
            <a:r>
              <a:rPr lang="ko-KR" altLang="ko-KR" sz="900" dirty="0" err="1"/>
              <a:t>Drives</a:t>
            </a:r>
            <a:r>
              <a:rPr lang="ko-KR" altLang="ko-KR" sz="900" dirty="0"/>
              <a:t> </a:t>
            </a:r>
            <a:r>
              <a:rPr lang="ko-KR" altLang="ko-KR" sz="900" dirty="0" err="1"/>
              <a:t>the</a:t>
            </a:r>
            <a:r>
              <a:rPr lang="ko-KR" altLang="ko-KR" sz="900" dirty="0"/>
              <a:t> </a:t>
            </a:r>
            <a:r>
              <a:rPr lang="ko-KR" altLang="ko-KR" sz="900" dirty="0" err="1"/>
              <a:t>mobile</a:t>
            </a:r>
            <a:r>
              <a:rPr lang="ko-KR" altLang="ko-KR" sz="900" dirty="0"/>
              <a:t> </a:t>
            </a:r>
            <a:r>
              <a:rPr lang="ko-KR" altLang="ko-KR" sz="900" dirty="0" err="1"/>
              <a:t>frontend</a:t>
            </a:r>
            <a:r>
              <a:rPr lang="ko-KR" altLang="ko-KR" sz="900" dirty="0"/>
              <a:t> — </a:t>
            </a:r>
            <a:r>
              <a:rPr lang="ko-KR" altLang="ko-KR" sz="900" dirty="0" err="1"/>
              <a:t>from</a:t>
            </a:r>
            <a:r>
              <a:rPr lang="ko-KR" altLang="ko-KR" sz="900" dirty="0"/>
              <a:t> </a:t>
            </a:r>
            <a:r>
              <a:rPr lang="ko-KR" altLang="ko-KR" sz="900" dirty="0" err="1"/>
              <a:t>the</a:t>
            </a:r>
            <a:r>
              <a:rPr lang="ko-KR" altLang="ko-KR" sz="900" dirty="0"/>
              <a:t> </a:t>
            </a:r>
            <a:r>
              <a:rPr lang="ko-KR" altLang="ko-KR" sz="900" dirty="0" err="1"/>
              <a:t>sign-in</a:t>
            </a:r>
            <a:r>
              <a:rPr lang="ko-KR" altLang="ko-KR" sz="900" dirty="0"/>
              <a:t> </a:t>
            </a:r>
            <a:r>
              <a:rPr lang="ko-KR" altLang="ko-KR" sz="900" dirty="0" err="1"/>
              <a:t>flow</a:t>
            </a:r>
            <a:r>
              <a:rPr lang="ko-KR" altLang="ko-KR" sz="900" dirty="0"/>
              <a:t> </a:t>
            </a:r>
            <a:r>
              <a:rPr lang="ko-KR" altLang="ko-KR" sz="900" dirty="0" err="1"/>
              <a:t>to</a:t>
            </a:r>
            <a:r>
              <a:rPr lang="ko-KR" altLang="ko-KR" sz="900" dirty="0"/>
              <a:t> </a:t>
            </a:r>
            <a:r>
              <a:rPr lang="ko-KR" altLang="ko-KR" sz="900" dirty="0" err="1"/>
              <a:t>the</a:t>
            </a:r>
            <a:r>
              <a:rPr lang="ko-KR" altLang="ko-KR" sz="900" dirty="0"/>
              <a:t> </a:t>
            </a:r>
            <a:r>
              <a:rPr lang="ko-KR" altLang="ko-KR" sz="900" dirty="0" err="1"/>
              <a:t>navigation</a:t>
            </a:r>
            <a:r>
              <a:rPr lang="ko-KR" altLang="ko-KR" sz="900" dirty="0"/>
              <a:t> </a:t>
            </a:r>
            <a:r>
              <a:rPr lang="ko-KR" altLang="ko-KR" sz="900" dirty="0" err="1"/>
              <a:t>shell</a:t>
            </a:r>
            <a:r>
              <a:rPr lang="ko-KR" altLang="ko-KR" sz="900" dirty="0"/>
              <a:t> — and </a:t>
            </a:r>
            <a:r>
              <a:rPr lang="ko-KR" altLang="ko-KR" sz="900" dirty="0" err="1"/>
              <a:t>owns</a:t>
            </a:r>
            <a:r>
              <a:rPr lang="ko-KR" altLang="ko-KR" sz="900" dirty="0"/>
              <a:t> UI </a:t>
            </a:r>
            <a:r>
              <a:rPr lang="ko-KR" altLang="ko-KR" sz="900" dirty="0" err="1"/>
              <a:t>polish</a:t>
            </a:r>
            <a:r>
              <a:rPr lang="ko-KR" altLang="ko-KR" sz="900" dirty="0"/>
              <a:t> </a:t>
            </a:r>
            <a:r>
              <a:rPr lang="ko-KR" altLang="ko-KR" sz="900" dirty="0" err="1"/>
              <a:t>work</a:t>
            </a:r>
            <a:endParaRPr lang="en-US" sz="900" dirty="0"/>
          </a:p>
        </p:txBody>
      </p:sp>
      <p:sp>
        <p:nvSpPr>
          <p:cNvPr id="15" name="Card"/>
          <p:cNvSpPr/>
          <p:nvPr/>
        </p:nvSpPr>
        <p:spPr>
          <a:xfrm>
            <a:off x="8192880" y="2050000"/>
            <a:ext cx="3547800" cy="215856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>
            <a:solidFill>
              <a:srgbClr val="E8EEF2"/>
            </a:solidFill>
          </a:ln>
          <a:effectLst>
            <a:outerShdw blurRad="76200" dist="25400" dir="5400000" algn="bl" rotWithShape="0">
              <a:srgbClr val="9DB4C4">
                <a:alpha val="3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6" name="Avatar"/>
          <p:cNvSpPr/>
          <p:nvPr/>
        </p:nvSpPr>
        <p:spPr>
          <a:xfrm>
            <a:off x="9601020" y="2278600"/>
            <a:ext cx="731520" cy="731520"/>
          </a:xfrm>
          <a:prstGeom prst="ellipse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/>
        </p:spPr>
        <p:txBody>
          <a:bodyPr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7" name="Name"/>
          <p:cNvSpPr/>
          <p:nvPr/>
        </p:nvSpPr>
        <p:spPr>
          <a:xfrm>
            <a:off x="8192880" y="3101560"/>
            <a:ext cx="354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ko-KR" altLang="ko-KR" sz="1600" b="1" dirty="0" err="1">
                <a:latin typeface="Cambria" panose="02040503050406030204" pitchFamily="18" charset="0"/>
              </a:rPr>
              <a:t>Amodya</a:t>
            </a:r>
            <a:r>
              <a:rPr lang="ko-KR" altLang="ko-KR" sz="1600" b="1" dirty="0">
                <a:latin typeface="Cambria" panose="02040503050406030204" pitchFamily="18" charset="0"/>
              </a:rPr>
              <a:t> </a:t>
            </a:r>
            <a:r>
              <a:rPr lang="ko-KR" altLang="ko-KR" sz="1600" b="1" dirty="0" err="1">
                <a:latin typeface="Cambria" panose="02040503050406030204" pitchFamily="18" charset="0"/>
              </a:rPr>
              <a:t>Indmini</a:t>
            </a:r>
            <a:endParaRPr lang="en-US" sz="1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" name="Role"/>
          <p:cNvSpPr/>
          <p:nvPr/>
        </p:nvSpPr>
        <p:spPr>
          <a:xfrm>
            <a:off x="8284320" y="3467320"/>
            <a:ext cx="3364920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</a:rPr>
              <a:t>UI Designer</a:t>
            </a:r>
            <a:endParaRPr lang="en-US" sz="1100" dirty="0"/>
          </a:p>
        </p:txBody>
      </p:sp>
      <p:sp>
        <p:nvSpPr>
          <p:cNvPr id="19" name="Bio"/>
          <p:cNvSpPr/>
          <p:nvPr/>
        </p:nvSpPr>
        <p:spPr>
          <a:xfrm>
            <a:off x="8421480" y="3833040"/>
            <a:ext cx="3090600" cy="75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>
              <a:lnSpc>
                <a:spcPct val="112000"/>
              </a:lnSpc>
            </a:pPr>
            <a:r>
              <a:rPr lang="ko-KR" altLang="ko-KR" sz="900" dirty="0" err="1"/>
              <a:t>Shapes</a:t>
            </a:r>
            <a:r>
              <a:rPr lang="ko-KR" altLang="ko-KR" sz="900" dirty="0"/>
              <a:t> </a:t>
            </a:r>
            <a:r>
              <a:rPr lang="ko-KR" altLang="ko-KR" sz="900" dirty="0" err="1"/>
              <a:t>the</a:t>
            </a:r>
            <a:r>
              <a:rPr lang="ko-KR" altLang="ko-KR" sz="900" dirty="0"/>
              <a:t> </a:t>
            </a:r>
            <a:r>
              <a:rPr lang="ko-KR" altLang="ko-KR" sz="900" dirty="0" err="1"/>
              <a:t>app's</a:t>
            </a:r>
            <a:r>
              <a:rPr lang="ko-KR" altLang="ko-KR" sz="900" dirty="0"/>
              <a:t> UI </a:t>
            </a:r>
            <a:r>
              <a:rPr lang="ko-KR" altLang="ko-KR" sz="900" dirty="0" err="1"/>
              <a:t>direction</a:t>
            </a:r>
            <a:r>
              <a:rPr lang="ko-KR" altLang="ko-KR" sz="900" dirty="0"/>
              <a:t> and </a:t>
            </a:r>
            <a:r>
              <a:rPr lang="ko-KR" altLang="ko-KR" sz="900" dirty="0" err="1"/>
              <a:t>partners</a:t>
            </a:r>
            <a:r>
              <a:rPr lang="ko-KR" altLang="ko-KR" sz="900" dirty="0"/>
              <a:t> </a:t>
            </a:r>
            <a:r>
              <a:rPr lang="ko-KR" altLang="ko-KR" sz="900" dirty="0" err="1"/>
              <a:t>with</a:t>
            </a:r>
            <a:r>
              <a:rPr lang="ko-KR" altLang="ko-KR" sz="900" dirty="0"/>
              <a:t> </a:t>
            </a:r>
            <a:r>
              <a:rPr lang="ko-KR" altLang="ko-KR" sz="900" dirty="0" err="1"/>
              <a:t>iman</a:t>
            </a:r>
            <a:r>
              <a:rPr lang="ko-KR" altLang="ko-KR" sz="900" dirty="0"/>
              <a:t> </a:t>
            </a:r>
            <a:r>
              <a:rPr lang="ko-KR" altLang="ko-KR" sz="900" dirty="0" err="1"/>
              <a:t>on</a:t>
            </a:r>
            <a:r>
              <a:rPr lang="ko-KR" altLang="ko-KR" sz="900" dirty="0"/>
              <a:t> Sprint 3's </a:t>
            </a:r>
            <a:r>
              <a:rPr lang="ko-KR" altLang="ko-KR" sz="900" dirty="0" err="1"/>
              <a:t>auth</a:t>
            </a:r>
            <a:r>
              <a:rPr lang="ko-KR" altLang="ko-KR" sz="900" dirty="0"/>
              <a:t> and </a:t>
            </a:r>
            <a:r>
              <a:rPr lang="ko-KR" altLang="ko-KR" sz="900" dirty="0" err="1"/>
              <a:t>connection-history</a:t>
            </a:r>
            <a:r>
              <a:rPr lang="ko-KR" altLang="ko-KR" sz="900" dirty="0"/>
              <a:t> </a:t>
            </a:r>
            <a:r>
              <a:rPr lang="ko-KR" altLang="ko-KR" sz="900" dirty="0" err="1"/>
              <a:t>screens</a:t>
            </a:r>
            <a:endParaRPr lang="en-US" sz="900" dirty="0"/>
          </a:p>
        </p:txBody>
      </p:sp>
      <p:sp>
        <p:nvSpPr>
          <p:cNvPr id="20" name="Card"/>
          <p:cNvSpPr/>
          <p:nvPr/>
        </p:nvSpPr>
        <p:spPr>
          <a:xfrm>
            <a:off x="2459700" y="4300000"/>
            <a:ext cx="3547800" cy="215856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>
            <a:solidFill>
              <a:srgbClr val="E8EEF2"/>
            </a:solidFill>
          </a:ln>
          <a:effectLst>
            <a:outerShdw blurRad="76200" dist="25400" dir="5400000" algn="bl" rotWithShape="0">
              <a:srgbClr val="9DB4C4">
                <a:alpha val="3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1" name="Avatar"/>
          <p:cNvSpPr/>
          <p:nvPr/>
        </p:nvSpPr>
        <p:spPr>
          <a:xfrm>
            <a:off x="3867840" y="4528600"/>
            <a:ext cx="731520" cy="731520"/>
          </a:xfrm>
          <a:prstGeom prst="ellipse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/>
        </p:spPr>
        <p:txBody>
          <a:bodyPr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22" name="Name"/>
          <p:cNvSpPr/>
          <p:nvPr/>
        </p:nvSpPr>
        <p:spPr>
          <a:xfrm>
            <a:off x="2459700" y="5351560"/>
            <a:ext cx="354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1600" b="1" dirty="0">
                <a:solidFill>
                  <a:srgbClr val="0A2E4D"/>
                </a:solidFill>
                <a:latin typeface="Cambria" pitchFamily="34" charset="0"/>
              </a:rPr>
              <a:t>N</a:t>
            </a:r>
            <a:r>
              <a:rPr kumimoji="0" lang="en-US" altLang="ko-KR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A2E4D"/>
                </a:solidFill>
                <a:effectLst/>
                <a:uLnTx/>
                <a:uFillTx/>
                <a:latin typeface="Cambria" pitchFamily="34" charset="0"/>
                <a:ea typeface="+mn-ea"/>
                <a:cs typeface="+mn-cs"/>
              </a:rPr>
              <a:t>ishad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0A2E4D"/>
                </a:solidFill>
                <a:effectLst/>
                <a:uLnTx/>
                <a:uFillTx/>
                <a:latin typeface="Cambria" pitchFamily="34" charset="0"/>
                <a:ea typeface="+mn-ea"/>
                <a:cs typeface="+mn-cs"/>
              </a:rPr>
              <a:t> GOYAL</a:t>
            </a:r>
            <a:endParaRPr lang="en-US" sz="1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3" name="Role"/>
          <p:cNvSpPr/>
          <p:nvPr/>
        </p:nvSpPr>
        <p:spPr>
          <a:xfrm>
            <a:off x="2551140" y="5717320"/>
            <a:ext cx="3364920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</a:rPr>
              <a:t>Cloud Engineer</a:t>
            </a:r>
            <a:endParaRPr lang="en-US" sz="1100" dirty="0"/>
          </a:p>
        </p:txBody>
      </p:sp>
      <p:sp>
        <p:nvSpPr>
          <p:cNvPr id="24" name="Bio"/>
          <p:cNvSpPr/>
          <p:nvPr/>
        </p:nvSpPr>
        <p:spPr>
          <a:xfrm>
            <a:off x="2688300" y="6083040"/>
            <a:ext cx="3090600" cy="75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>
              <a:lnSpc>
                <a:spcPct val="112000"/>
              </a:lnSpc>
            </a:pPr>
            <a:r>
              <a:rPr lang="ko-KR" altLang="ko-KR" sz="900" dirty="0" err="1"/>
              <a:t>Owns</a:t>
            </a:r>
            <a:r>
              <a:rPr lang="ko-KR" altLang="ko-KR" sz="900" dirty="0"/>
              <a:t> </a:t>
            </a:r>
            <a:r>
              <a:rPr lang="ko-KR" altLang="ko-KR" sz="900" dirty="0" err="1"/>
              <a:t>the</a:t>
            </a:r>
            <a:r>
              <a:rPr lang="ko-KR" altLang="ko-KR" sz="900" dirty="0"/>
              <a:t> </a:t>
            </a:r>
            <a:r>
              <a:rPr lang="ko-KR" altLang="ko-KR" sz="900" dirty="0" err="1"/>
              <a:t>cloud</a:t>
            </a:r>
            <a:r>
              <a:rPr lang="ko-KR" altLang="ko-KR" sz="900" dirty="0"/>
              <a:t> </a:t>
            </a:r>
            <a:r>
              <a:rPr lang="ko-KR" altLang="ko-KR" sz="900" dirty="0" err="1"/>
              <a:t>infrastructure</a:t>
            </a:r>
            <a:r>
              <a:rPr lang="ko-KR" altLang="ko-KR" sz="900" dirty="0"/>
              <a:t> — </a:t>
            </a:r>
            <a:r>
              <a:rPr lang="ko-KR" altLang="ko-KR" sz="900" dirty="0" err="1"/>
              <a:t>cloud</a:t>
            </a:r>
            <a:r>
              <a:rPr lang="ko-KR" altLang="ko-KR" sz="900" dirty="0"/>
              <a:t> DB </a:t>
            </a:r>
            <a:r>
              <a:rPr lang="ko-KR" altLang="ko-KR" sz="900" dirty="0" err="1"/>
              <a:t>schema</a:t>
            </a:r>
            <a:r>
              <a:rPr lang="ko-KR" altLang="ko-KR" sz="900" dirty="0"/>
              <a:t> and CI/CD </a:t>
            </a:r>
            <a:r>
              <a:rPr lang="ko-KR" altLang="ko-KR" sz="900" dirty="0" err="1"/>
              <a:t>pipeline</a:t>
            </a:r>
            <a:r>
              <a:rPr lang="ko-KR" altLang="ko-KR" sz="900" dirty="0"/>
              <a:t> — </a:t>
            </a:r>
            <a:r>
              <a:rPr lang="ko-KR" altLang="ko-KR" sz="900" dirty="0" err="1"/>
              <a:t>that</a:t>
            </a:r>
            <a:r>
              <a:rPr lang="ko-KR" altLang="ko-KR" sz="900" dirty="0"/>
              <a:t> </a:t>
            </a:r>
            <a:r>
              <a:rPr lang="ko-KR" altLang="ko-KR" sz="900" dirty="0" err="1"/>
              <a:t>the</a:t>
            </a:r>
            <a:r>
              <a:rPr lang="ko-KR" altLang="ko-KR" sz="900" dirty="0"/>
              <a:t> </a:t>
            </a:r>
            <a:r>
              <a:rPr lang="ko-KR" altLang="ko-KR" sz="900" dirty="0" err="1"/>
              <a:t>whole</a:t>
            </a:r>
            <a:r>
              <a:rPr lang="ko-KR" altLang="ko-KR" sz="900" dirty="0"/>
              <a:t> </a:t>
            </a:r>
            <a:r>
              <a:rPr lang="ko-KR" altLang="ko-KR" sz="900" dirty="0" err="1"/>
              <a:t>team's</a:t>
            </a:r>
            <a:r>
              <a:rPr lang="ko-KR" altLang="ko-KR" sz="900" dirty="0"/>
              <a:t> </a:t>
            </a:r>
            <a:r>
              <a:rPr lang="ko-KR" altLang="ko-KR" sz="900" dirty="0" err="1"/>
              <a:t>deploys</a:t>
            </a:r>
            <a:r>
              <a:rPr lang="ko-KR" altLang="ko-KR" sz="900" dirty="0"/>
              <a:t> </a:t>
            </a:r>
            <a:r>
              <a:rPr lang="ko-KR" altLang="ko-KR" sz="900" dirty="0" err="1"/>
              <a:t>depend</a:t>
            </a:r>
            <a:r>
              <a:rPr lang="ko-KR" altLang="ko-KR" sz="900" dirty="0"/>
              <a:t> </a:t>
            </a:r>
            <a:r>
              <a:rPr lang="ko-KR" altLang="ko-KR" sz="900" dirty="0" err="1"/>
              <a:t>on</a:t>
            </a:r>
            <a:r>
              <a:rPr lang="ko-KR" altLang="ko-KR" sz="900" dirty="0"/>
              <a:t>.</a:t>
            </a:r>
            <a:endParaRPr lang="en-US" sz="900" dirty="0"/>
          </a:p>
        </p:txBody>
      </p:sp>
      <p:sp>
        <p:nvSpPr>
          <p:cNvPr id="25" name="Card"/>
          <p:cNvSpPr/>
          <p:nvPr/>
        </p:nvSpPr>
        <p:spPr>
          <a:xfrm>
            <a:off x="6281820" y="4300000"/>
            <a:ext cx="3547800" cy="215856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>
            <a:solidFill>
              <a:srgbClr val="E8EEF2"/>
            </a:solidFill>
          </a:ln>
          <a:effectLst>
            <a:outerShdw blurRad="76200" dist="25400" dir="5400000" algn="bl" rotWithShape="0">
              <a:srgbClr val="9DB4C4">
                <a:alpha val="3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6" name="Avatar"/>
          <p:cNvSpPr/>
          <p:nvPr/>
        </p:nvSpPr>
        <p:spPr>
          <a:xfrm>
            <a:off x="7689960" y="4528600"/>
            <a:ext cx="731520" cy="731520"/>
          </a:xfrm>
          <a:prstGeom prst="ellipse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/>
        </p:spPr>
        <p:txBody>
          <a:bodyPr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27" name="Name"/>
          <p:cNvSpPr/>
          <p:nvPr/>
        </p:nvSpPr>
        <p:spPr>
          <a:xfrm>
            <a:off x="6281820" y="5351560"/>
            <a:ext cx="354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0A2E4D"/>
                </a:solidFill>
                <a:effectLst/>
                <a:uLnTx/>
                <a:uFillTx/>
                <a:latin typeface="Cambria" pitchFamily="34" charset="0"/>
                <a:ea typeface="+mn-ea"/>
                <a:cs typeface="+mn-cs"/>
              </a:rPr>
              <a:t>Sarvesh Kumar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Role"/>
          <p:cNvSpPr/>
          <p:nvPr/>
        </p:nvSpPr>
        <p:spPr>
          <a:xfrm>
            <a:off x="6373260" y="5717320"/>
            <a:ext cx="3364920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</a:rPr>
              <a:t>Fullstack Developer</a:t>
            </a:r>
            <a:endParaRPr lang="en-US" sz="1100" dirty="0"/>
          </a:p>
        </p:txBody>
      </p:sp>
      <p:sp>
        <p:nvSpPr>
          <p:cNvPr id="29" name="Bio"/>
          <p:cNvSpPr/>
          <p:nvPr/>
        </p:nvSpPr>
        <p:spPr>
          <a:xfrm>
            <a:off x="6510420" y="6083040"/>
            <a:ext cx="3090600" cy="75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>
              <a:lnSpc>
                <a:spcPct val="112000"/>
              </a:lnSpc>
            </a:pPr>
            <a:r>
              <a:rPr lang="ko-KR" altLang="ko-KR" sz="900" dirty="0" err="1"/>
              <a:t>Bridges</a:t>
            </a:r>
            <a:r>
              <a:rPr lang="ko-KR" altLang="ko-KR" sz="900" dirty="0"/>
              <a:t> </a:t>
            </a:r>
            <a:r>
              <a:rPr lang="ko-KR" altLang="ko-KR" sz="900" dirty="0" err="1"/>
              <a:t>frontend</a:t>
            </a:r>
            <a:r>
              <a:rPr lang="ko-KR" altLang="ko-KR" sz="900" dirty="0"/>
              <a:t> and </a:t>
            </a:r>
            <a:r>
              <a:rPr lang="ko-KR" altLang="ko-KR" sz="900" dirty="0" err="1"/>
              <a:t>backend</a:t>
            </a:r>
            <a:r>
              <a:rPr lang="ko-KR" altLang="ko-KR" sz="900" dirty="0"/>
              <a:t> </a:t>
            </a:r>
            <a:r>
              <a:rPr lang="ko-KR" altLang="ko-KR" sz="900" dirty="0" err="1"/>
              <a:t>work</a:t>
            </a:r>
            <a:endParaRPr lang="en-US" sz="900" dirty="0"/>
          </a:p>
        </p:txBody>
      </p:sp>
      <p:sp>
        <p:nvSpPr>
          <p:cNvPr id="30" name="Text F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DSS Wearable App · StackOverflower</a:t>
            </a:r>
            <a:endParaRPr lang="en-US" sz="900" dirty="0"/>
          </a:p>
        </p:txBody>
      </p:sp>
      <p:sp>
        <p:nvSpPr>
          <p:cNvPr id="31" name="Text F1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TRACKING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2 Snapshot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goal: core auth, navigation shell, BLE pairing prototype, and the first live-data screens.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5146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DB4C4">
                <a:alpha val="3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777240" y="2404872"/>
            <a:ext cx="548640" cy="548640"/>
          </a:xfrm>
          <a:prstGeom prst="ellipse">
            <a:avLst/>
          </a:prstGeom>
          <a:solidFill>
            <a:srgbClr val="EAF2F6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" y="2476195"/>
            <a:ext cx="405994" cy="40599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306324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days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685800" y="35204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window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10–24 Aug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319272" y="2148840"/>
            <a:ext cx="25146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DB4C4">
                <a:alpha val="3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1" name="Shape 8"/>
          <p:cNvSpPr/>
          <p:nvPr/>
        </p:nvSpPr>
        <p:spPr>
          <a:xfrm>
            <a:off x="3547872" y="2404872"/>
            <a:ext cx="548640" cy="548640"/>
          </a:xfrm>
          <a:prstGeom prst="ellipse">
            <a:avLst/>
          </a:prstGeom>
          <a:solidFill>
            <a:srgbClr val="EAF2F6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9195" y="2476195"/>
            <a:ext cx="405994" cy="40599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56432" y="306324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600" dirty="0"/>
          </a:p>
        </p:txBody>
      </p:sp>
      <p:sp>
        <p:nvSpPr>
          <p:cNvPr id="14" name="Text 10"/>
          <p:cNvSpPr/>
          <p:nvPr/>
        </p:nvSpPr>
        <p:spPr>
          <a:xfrm>
            <a:off x="3456432" y="35204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items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Sprint 2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089904" y="2148840"/>
            <a:ext cx="25146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DB4C4">
                <a:alpha val="3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6" name="Shape 12"/>
          <p:cNvSpPr/>
          <p:nvPr/>
        </p:nvSpPr>
        <p:spPr>
          <a:xfrm>
            <a:off x="6318504" y="2404872"/>
            <a:ext cx="548640" cy="548640"/>
          </a:xfrm>
          <a:prstGeom prst="ellipse">
            <a:avLst/>
          </a:prstGeom>
          <a:solidFill>
            <a:srgbClr val="EAF2F6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9827" y="2476195"/>
            <a:ext cx="405994" cy="40599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27064" y="306324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/ 11</a:t>
            </a:r>
            <a:endParaRPr lang="en-US" sz="2600" dirty="0"/>
          </a:p>
        </p:txBody>
      </p:sp>
      <p:sp>
        <p:nvSpPr>
          <p:cNvPr id="19" name="Text 14"/>
          <p:cNvSpPr/>
          <p:nvPr/>
        </p:nvSpPr>
        <p:spPr>
          <a:xfrm>
            <a:off x="6227064" y="35204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Done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(82%)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8860536" y="2148840"/>
            <a:ext cx="25146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DB4C4">
                <a:alpha val="3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1" name="Shape 16"/>
          <p:cNvSpPr/>
          <p:nvPr/>
        </p:nvSpPr>
        <p:spPr>
          <a:xfrm>
            <a:off x="9089136" y="2404872"/>
            <a:ext cx="548640" cy="548640"/>
          </a:xfrm>
          <a:prstGeom prst="ellipse">
            <a:avLst/>
          </a:prstGeom>
          <a:solidFill>
            <a:srgbClr val="EAF2F6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60459" y="2476195"/>
            <a:ext cx="405994" cy="40599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997696" y="306324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</a:rPr>
              <a:t>1</a:t>
            </a:r>
            <a:endParaRPr lang="en-US" sz="2600" dirty="0"/>
          </a:p>
        </p:txBody>
      </p:sp>
      <p:sp>
        <p:nvSpPr>
          <p:cNvPr id="24" name="Text 18"/>
          <p:cNvSpPr/>
          <p:nvPr/>
        </p:nvSpPr>
        <p:spPr>
          <a:xfrm>
            <a:off x="8997696" y="35204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In Progress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(both auth-related)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548640" y="4343400"/>
            <a:ext cx="11091672" cy="1508760"/>
          </a:xfrm>
          <a:prstGeom prst="roundRect">
            <a:avLst>
              <a:gd name="adj" fmla="val 4848"/>
            </a:avLst>
          </a:prstGeom>
          <a:solidFill>
            <a:srgbClr val="0A2E4D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6" name="Shape 20"/>
          <p:cNvSpPr/>
          <p:nvPr/>
        </p:nvSpPr>
        <p:spPr>
          <a:xfrm>
            <a:off x="868680" y="4645152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5665" y="4752137"/>
            <a:ext cx="608990" cy="60899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920240" y="4617720"/>
            <a:ext cx="9509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Scrum Master this sprint:  </a:t>
            </a: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sprint planning and daily stand-ups, groomed the backlog, tracked the board above, and cleared cross-team blockers between backend, mobile, and BLE/firmware.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DSS Wearable App · StackOverflower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TRACKING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2 Burndown (from Jira)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371600"/>
          <a:ext cx="649224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7269480" y="13716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burndown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7269480" y="1901952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4"/>
          <p:cNvSpPr/>
          <p:nvPr/>
        </p:nvSpPr>
        <p:spPr>
          <a:xfrm>
            <a:off x="7525512" y="1737360"/>
            <a:ext cx="4114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A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start: 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→ 35 pts in the first 2 days, clearing carryover-adjacent work.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269480" y="2926080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Text 6"/>
          <p:cNvSpPr/>
          <p:nvPr/>
        </p:nvSpPr>
        <p:spPr>
          <a:xfrm>
            <a:off x="7525512" y="2761488"/>
            <a:ext cx="4114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A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middle (12–16 Aug): 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guidelines were locked in on day 2 (Tue 11 Aug) — the team then spent several days reworking in-flight items to match, so the line held flat even though work was happening.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269480" y="3950208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1" name="Text 8"/>
          <p:cNvSpPr/>
          <p:nvPr/>
        </p:nvSpPr>
        <p:spPr>
          <a:xfrm>
            <a:off x="7525512" y="3785616"/>
            <a:ext cx="4114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A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Dip-then-rise (~16 Aug): 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mutual-understanding gap on the login screen and Firebase setup was caught in review and fixed within a day — the small up-tick before the final push.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269480" y="4974336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3" name="Text 10"/>
          <p:cNvSpPr/>
          <p:nvPr/>
        </p:nvSpPr>
        <p:spPr>
          <a:xfrm>
            <a:off x="7525512" y="4809744"/>
            <a:ext cx="4114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A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8 pts left (86% burned) 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late push cleared most of the backlog, but the trend still trails the ideal guideline — 3 infra items remain at risk (next slide).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DSS Wearable App · StackOverflower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TRACKING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Shipped This Sprint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4924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658368" y="1490472"/>
            <a:ext cx="457200" cy="457200"/>
          </a:xfrm>
          <a:prstGeom prst="ellipse">
            <a:avLst/>
          </a:prstGeom>
          <a:solidFill>
            <a:srgbClr val="0A2E4D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" y="1549908"/>
            <a:ext cx="338328" cy="338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417320"/>
            <a:ext cx="3794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Firebase-authenticated login / signup flow</a:t>
            </a:r>
            <a:endParaRPr lang="en-US" sz="11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DWSO-36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892040" y="1572768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solidFill>
              <a:srgbClr val="2E8B57"/>
            </a:solidFill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6"/>
          <p:cNvSpPr/>
          <p:nvPr/>
        </p:nvSpPr>
        <p:spPr>
          <a:xfrm>
            <a:off x="4892040" y="1572768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48640" y="2148840"/>
            <a:ext cx="534924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1" name="Shape 8"/>
          <p:cNvSpPr/>
          <p:nvPr/>
        </p:nvSpPr>
        <p:spPr>
          <a:xfrm>
            <a:off x="658368" y="2221992"/>
            <a:ext cx="457200" cy="457200"/>
          </a:xfrm>
          <a:prstGeom prst="ellipse">
            <a:avLst/>
          </a:prstGeom>
          <a:solidFill>
            <a:srgbClr val="0A2E4D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" y="2281428"/>
            <a:ext cx="338328" cy="33832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34440" y="2148840"/>
            <a:ext cx="3794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Router navigation shell (tab layout)</a:t>
            </a:r>
            <a:endParaRPr lang="en-US" sz="11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DWSO-15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892040" y="2304288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5" name="Text 11"/>
          <p:cNvSpPr/>
          <p:nvPr/>
        </p:nvSpPr>
        <p:spPr>
          <a:xfrm>
            <a:off x="4892040" y="2304288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548640" y="2880360"/>
            <a:ext cx="534924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7" name="Shape 13"/>
          <p:cNvSpPr/>
          <p:nvPr/>
        </p:nvSpPr>
        <p:spPr>
          <a:xfrm>
            <a:off x="658368" y="2953512"/>
            <a:ext cx="457200" cy="457200"/>
          </a:xfrm>
          <a:prstGeom prst="ellipse">
            <a:avLst/>
          </a:prstGeom>
          <a:solidFill>
            <a:srgbClr val="0A2E4D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" y="3012948"/>
            <a:ext cx="338328" cy="33832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34440" y="2880360"/>
            <a:ext cx="3794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 pairing prototype</a:t>
            </a:r>
            <a:endParaRPr lang="en-US" sz="11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DWSO-12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4892040" y="3035808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1" name="Text 16"/>
          <p:cNvSpPr/>
          <p:nvPr/>
        </p:nvSpPr>
        <p:spPr>
          <a:xfrm>
            <a:off x="4892040" y="3035808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548640" y="3611880"/>
            <a:ext cx="534924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3" name="Shape 18"/>
          <p:cNvSpPr/>
          <p:nvPr/>
        </p:nvSpPr>
        <p:spPr>
          <a:xfrm>
            <a:off x="658368" y="3685032"/>
            <a:ext cx="457200" cy="457200"/>
          </a:xfrm>
          <a:prstGeom prst="ellipse">
            <a:avLst/>
          </a:prstGeom>
          <a:solidFill>
            <a:srgbClr val="0A2E4D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804" y="3744468"/>
            <a:ext cx="338328" cy="33832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234440" y="3611880"/>
            <a:ext cx="3794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registration &amp; list screen</a:t>
            </a:r>
            <a:endParaRPr lang="en-US" sz="11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DWSO-41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4892040" y="3767328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7" name="Text 21"/>
          <p:cNvSpPr/>
          <p:nvPr/>
        </p:nvSpPr>
        <p:spPr>
          <a:xfrm>
            <a:off x="4892040" y="3767328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6172200" y="1417320"/>
            <a:ext cx="534924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9" name="Shape 23"/>
          <p:cNvSpPr/>
          <p:nvPr/>
        </p:nvSpPr>
        <p:spPr>
          <a:xfrm>
            <a:off x="6281928" y="1490472"/>
            <a:ext cx="457200" cy="457200"/>
          </a:xfrm>
          <a:prstGeom prst="ellipse">
            <a:avLst/>
          </a:prstGeom>
          <a:solidFill>
            <a:srgbClr val="0A2E4D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1364" y="1549908"/>
            <a:ext cx="338328" cy="33832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858000" y="1417320"/>
            <a:ext cx="3794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sensor dashboard (basic)</a:t>
            </a:r>
            <a:endParaRPr lang="en-US" sz="11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DWSO-45</a:t>
            </a:r>
            <a:endParaRPr lang="en-US" sz="1150" dirty="0"/>
          </a:p>
        </p:txBody>
      </p:sp>
      <p:sp>
        <p:nvSpPr>
          <p:cNvPr id="32" name="Shape 25"/>
          <p:cNvSpPr/>
          <p:nvPr/>
        </p:nvSpPr>
        <p:spPr>
          <a:xfrm>
            <a:off x="10515600" y="1572768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3" name="Text 26"/>
          <p:cNvSpPr/>
          <p:nvPr/>
        </p:nvSpPr>
        <p:spPr>
          <a:xfrm>
            <a:off x="10515600" y="1572768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50" dirty="0"/>
          </a:p>
        </p:txBody>
      </p:sp>
      <p:sp>
        <p:nvSpPr>
          <p:cNvPr id="34" name="Shape 27"/>
          <p:cNvSpPr/>
          <p:nvPr/>
        </p:nvSpPr>
        <p:spPr>
          <a:xfrm>
            <a:off x="6172200" y="2148840"/>
            <a:ext cx="534924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5" name="Shape 28"/>
          <p:cNvSpPr/>
          <p:nvPr/>
        </p:nvSpPr>
        <p:spPr>
          <a:xfrm>
            <a:off x="6281928" y="2221992"/>
            <a:ext cx="457200" cy="457200"/>
          </a:xfrm>
          <a:prstGeom prst="ellipse">
            <a:avLst/>
          </a:prstGeom>
          <a:solidFill>
            <a:srgbClr val="0A2E4D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41364" y="2281428"/>
            <a:ext cx="338328" cy="338328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6858000" y="2148840"/>
            <a:ext cx="3794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 reconnect / connection-status UI</a:t>
            </a:r>
            <a:endParaRPr lang="en-US" sz="11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DWSO-50</a:t>
            </a:r>
            <a:endParaRPr lang="en-US" sz="1150" dirty="0"/>
          </a:p>
        </p:txBody>
      </p:sp>
      <p:sp>
        <p:nvSpPr>
          <p:cNvPr id="38" name="Shape 30"/>
          <p:cNvSpPr/>
          <p:nvPr/>
        </p:nvSpPr>
        <p:spPr>
          <a:xfrm>
            <a:off x="10515600" y="2304288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9" name="Text 31"/>
          <p:cNvSpPr/>
          <p:nvPr/>
        </p:nvSpPr>
        <p:spPr>
          <a:xfrm>
            <a:off x="10515600" y="2304288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50" dirty="0"/>
          </a:p>
        </p:txBody>
      </p:sp>
      <p:sp>
        <p:nvSpPr>
          <p:cNvPr id="40" name="Shape 32"/>
          <p:cNvSpPr/>
          <p:nvPr/>
        </p:nvSpPr>
        <p:spPr>
          <a:xfrm>
            <a:off x="6172200" y="2880360"/>
            <a:ext cx="534924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1" name="Shape 33"/>
          <p:cNvSpPr/>
          <p:nvPr/>
        </p:nvSpPr>
        <p:spPr>
          <a:xfrm>
            <a:off x="6281928" y="2953512"/>
            <a:ext cx="457200" cy="457200"/>
          </a:xfrm>
          <a:prstGeom prst="ellipse">
            <a:avLst/>
          </a:prstGeom>
          <a:solidFill>
            <a:srgbClr val="0A2E4D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4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41364" y="3012948"/>
            <a:ext cx="338328" cy="338328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6858000" y="2880360"/>
            <a:ext cx="3794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contract doc + integration support</a:t>
            </a:r>
            <a:endParaRPr lang="en-US" sz="11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DWSO-18</a:t>
            </a:r>
            <a:endParaRPr lang="en-US" sz="1150" dirty="0"/>
          </a:p>
        </p:txBody>
      </p:sp>
      <p:sp>
        <p:nvSpPr>
          <p:cNvPr id="44" name="Shape 35"/>
          <p:cNvSpPr/>
          <p:nvPr/>
        </p:nvSpPr>
        <p:spPr>
          <a:xfrm>
            <a:off x="10515600" y="3035808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5" name="Text 36"/>
          <p:cNvSpPr/>
          <p:nvPr/>
        </p:nvSpPr>
        <p:spPr>
          <a:xfrm>
            <a:off x="10515600" y="3035808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50" dirty="0"/>
          </a:p>
        </p:txBody>
      </p:sp>
      <p:sp>
        <p:nvSpPr>
          <p:cNvPr id="46" name="Shape 37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9677"/>
            </a:avLst>
          </a:prstGeom>
          <a:solidFill>
            <a:srgbClr val="0A2E4D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7" name="Text 38"/>
          <p:cNvSpPr/>
          <p:nvPr/>
        </p:nvSpPr>
        <p:spPr>
          <a:xfrm>
            <a:off x="777240" y="580644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test suite:  </a:t>
            </a: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automated tests (auth sync, device ownership isolation, sensor ingestion, alert thresholds) — all pass without a live Postgres DB or Firebase project.</a:t>
            </a:r>
            <a:endParaRPr lang="en-US" sz="1150" dirty="0"/>
          </a:p>
        </p:txBody>
      </p:sp>
      <p:sp>
        <p:nvSpPr>
          <p:cNvPr id="48" name="Text 3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DSS Wearable App · StackOverflower</a:t>
            </a:r>
            <a:endParaRPr lang="en-US" sz="900" dirty="0"/>
          </a:p>
        </p:txBody>
      </p:sp>
      <p:sp>
        <p:nvSpPr>
          <p:cNvPr id="49" name="Text 40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TRACKING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Contributions (mobile/main)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commit history — traceable evidence behind the Jira status on the previous slides.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9167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713232" y="2121408"/>
            <a:ext cx="438912" cy="438912"/>
          </a:xfrm>
          <a:prstGeom prst="ellipse">
            <a:avLst/>
          </a:prstGeom>
          <a:solidFill>
            <a:srgbClr val="0A2E4D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291" y="2178467"/>
            <a:ext cx="324795" cy="32479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2039112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api client for user sync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325880" y="2368296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16, 2026  ·  e2e8782  ·  committed by I-S-G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8503920" y="2167128"/>
            <a:ext cx="2971800" cy="347472"/>
          </a:xfrm>
          <a:prstGeom prst="roundRect">
            <a:avLst>
              <a:gd name="adj" fmla="val 50000"/>
            </a:avLst>
          </a:prstGeom>
          <a:solidFill>
            <a:srgbClr val="EAF2F6"/>
          </a:solidFill>
          <a:ln w="952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8"/>
          <p:cNvSpPr/>
          <p:nvPr/>
        </p:nvSpPr>
        <p:spPr>
          <a:xfrm>
            <a:off x="8503920" y="2167128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DWSO-36 (login/signup)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48640" y="2807208"/>
            <a:ext cx="1109167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3" name="Shape 10"/>
          <p:cNvSpPr/>
          <p:nvPr/>
        </p:nvSpPr>
        <p:spPr>
          <a:xfrm>
            <a:off x="713232" y="2962656"/>
            <a:ext cx="438912" cy="438912"/>
          </a:xfrm>
          <a:prstGeom prst="ellipse">
            <a:avLst/>
          </a:prstGeom>
          <a:solidFill>
            <a:srgbClr val="0A2E4D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291" y="3019715"/>
            <a:ext cx="324795" cy="32479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325880" y="288036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signup page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1325880" y="3209544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16, 2026  ·  030b997  ·  committed by I-S-G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8503920" y="3008376"/>
            <a:ext cx="2971800" cy="347472"/>
          </a:xfrm>
          <a:prstGeom prst="roundRect">
            <a:avLst>
              <a:gd name="adj" fmla="val 50000"/>
            </a:avLst>
          </a:prstGeom>
          <a:solidFill>
            <a:srgbClr val="EAF2F6"/>
          </a:solidFill>
          <a:ln w="952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Text 14"/>
          <p:cNvSpPr/>
          <p:nvPr/>
        </p:nvSpPr>
        <p:spPr>
          <a:xfrm>
            <a:off x="8503920" y="3008376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DWSO-36 (login/signup)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548640" y="3648456"/>
            <a:ext cx="1109167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0" name="Shape 16"/>
          <p:cNvSpPr/>
          <p:nvPr/>
        </p:nvSpPr>
        <p:spPr>
          <a:xfrm>
            <a:off x="713232" y="3803904"/>
            <a:ext cx="438912" cy="438912"/>
          </a:xfrm>
          <a:prstGeom prst="ellipse">
            <a:avLst/>
          </a:prstGeom>
          <a:solidFill>
            <a:srgbClr val="0A2E4D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291" y="3860963"/>
            <a:ext cx="324795" cy="324795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325880" y="3721608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sign-in screen (react-hook-form + zod), Google/Apple sign-in buttons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1325880" y="4050792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16, 2026  ·  d1eff04  ·  committed by I-S-G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8503920" y="3849624"/>
            <a:ext cx="2971800" cy="347472"/>
          </a:xfrm>
          <a:prstGeom prst="roundRect">
            <a:avLst>
              <a:gd name="adj" fmla="val 50000"/>
            </a:avLst>
          </a:prstGeom>
          <a:solidFill>
            <a:srgbClr val="EAF2F6"/>
          </a:solidFill>
          <a:ln w="952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5" name="Text 20"/>
          <p:cNvSpPr/>
          <p:nvPr/>
        </p:nvSpPr>
        <p:spPr>
          <a:xfrm>
            <a:off x="8503920" y="3849624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DWSO-36 (login/signup)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548640" y="4489704"/>
            <a:ext cx="1109167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7" name="Shape 22"/>
          <p:cNvSpPr/>
          <p:nvPr/>
        </p:nvSpPr>
        <p:spPr>
          <a:xfrm>
            <a:off x="713232" y="4645152"/>
            <a:ext cx="438912" cy="438912"/>
          </a:xfrm>
          <a:prstGeom prst="ellipse">
            <a:avLst/>
          </a:prstGeom>
          <a:solidFill>
            <a:srgbClr val="0A2E4D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291" y="4702211"/>
            <a:ext cx="324795" cy="324795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325880" y="4562856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backend files, created mobile app shell (tabs &amp; routes)</a:t>
            </a:r>
            <a:endParaRPr lang="en-US" sz="1250" dirty="0"/>
          </a:p>
        </p:txBody>
      </p:sp>
      <p:sp>
        <p:nvSpPr>
          <p:cNvPr id="30" name="Text 24"/>
          <p:cNvSpPr/>
          <p:nvPr/>
        </p:nvSpPr>
        <p:spPr>
          <a:xfrm>
            <a:off x="1325880" y="489204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3, 2026  ·  0dbd0cc  ·  committed by I-S-G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8503920" y="4690872"/>
            <a:ext cx="2971800" cy="347472"/>
          </a:xfrm>
          <a:prstGeom prst="roundRect">
            <a:avLst>
              <a:gd name="adj" fmla="val 50000"/>
            </a:avLst>
          </a:prstGeom>
          <a:solidFill>
            <a:srgbClr val="EAF2F6"/>
          </a:solidFill>
          <a:ln w="952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2" name="Text 26"/>
          <p:cNvSpPr/>
          <p:nvPr/>
        </p:nvSpPr>
        <p:spPr>
          <a:xfrm>
            <a:off x="8503920" y="4690872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DWSO-15 (nav shell) + backend app/ refactor</a:t>
            </a:r>
            <a:endParaRPr lang="en-US" sz="900" dirty="0"/>
          </a:p>
        </p:txBody>
      </p:sp>
      <p:sp>
        <p:nvSpPr>
          <p:cNvPr id="33" name="Shape 27"/>
          <p:cNvSpPr/>
          <p:nvPr/>
        </p:nvSpPr>
        <p:spPr>
          <a:xfrm>
            <a:off x="548640" y="5330952"/>
            <a:ext cx="1109167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4" name="Shape 28"/>
          <p:cNvSpPr/>
          <p:nvPr/>
        </p:nvSpPr>
        <p:spPr>
          <a:xfrm>
            <a:off x="713232" y="5486400"/>
            <a:ext cx="438912" cy="438912"/>
          </a:xfrm>
          <a:prstGeom prst="ellipse">
            <a:avLst/>
          </a:prstGeom>
          <a:solidFill>
            <a:srgbClr val="0A2E4D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291" y="5543459"/>
            <a:ext cx="324795" cy="324795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1325880" y="5404104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new Expo RN app with NativeWind (SDK 57)</a:t>
            </a:r>
            <a:endParaRPr lang="en-US" sz="1250" dirty="0"/>
          </a:p>
        </p:txBody>
      </p:sp>
      <p:sp>
        <p:nvSpPr>
          <p:cNvPr id="37" name="Text 30"/>
          <p:cNvSpPr/>
          <p:nvPr/>
        </p:nvSpPr>
        <p:spPr>
          <a:xfrm>
            <a:off x="1325880" y="5733288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3, 2026  ·  19c85be  ·  committed by I-S-G</a:t>
            </a:r>
            <a:endParaRPr lang="en-US" sz="1000" dirty="0"/>
          </a:p>
        </p:txBody>
      </p:sp>
      <p:sp>
        <p:nvSpPr>
          <p:cNvPr id="38" name="Shape 31"/>
          <p:cNvSpPr/>
          <p:nvPr/>
        </p:nvSpPr>
        <p:spPr>
          <a:xfrm>
            <a:off x="8503920" y="5532120"/>
            <a:ext cx="2971800" cy="347472"/>
          </a:xfrm>
          <a:prstGeom prst="roundRect">
            <a:avLst>
              <a:gd name="adj" fmla="val 50000"/>
            </a:avLst>
          </a:prstGeom>
          <a:solidFill>
            <a:srgbClr val="EAF2F6"/>
          </a:solidFill>
          <a:ln w="952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9" name="Text 32"/>
          <p:cNvSpPr/>
          <p:nvPr/>
        </p:nvSpPr>
        <p:spPr>
          <a:xfrm>
            <a:off x="8503920" y="5532120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DWSO-15 (mobile scaffold)</a:t>
            </a:r>
            <a:endParaRPr lang="en-US" sz="900" dirty="0"/>
          </a:p>
        </p:txBody>
      </p:sp>
      <p:sp>
        <p:nvSpPr>
          <p:cNvPr id="40" name="Text 3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DSS Wearable App · StackOverflower</a:t>
            </a:r>
            <a:endParaRPr lang="en-US" sz="900" dirty="0"/>
          </a:p>
        </p:txBody>
      </p:sp>
      <p:sp>
        <p:nvSpPr>
          <p:cNvPr id="41" name="Text 34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TRACKING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&amp; Blockers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backlog items missed their 9 Aug target date — all infrastructure work, not user-facing screens.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520440" cy="3383280"/>
          </a:xfrm>
          <a:prstGeom prst="roundRect">
            <a:avLst>
              <a:gd name="adj" fmla="val 2162"/>
            </a:avLst>
          </a:prstGeom>
          <a:solidFill>
            <a:srgbClr val="EAF2F6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777240" y="2267712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620" y="2333092"/>
            <a:ext cx="372161" cy="37216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292608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database schema  ·  DWSO-14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77240" y="3703320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0" name="Text 7"/>
          <p:cNvSpPr/>
          <p:nvPr/>
        </p:nvSpPr>
        <p:spPr>
          <a:xfrm>
            <a:off x="777240" y="37033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Review  ·  7 days overdue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77240" y="425196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Finalizing production schema before the team commits to Alembic migrations.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343400" y="2011680"/>
            <a:ext cx="3520440" cy="3383280"/>
          </a:xfrm>
          <a:prstGeom prst="roundRect">
            <a:avLst>
              <a:gd name="adj" fmla="val 2162"/>
            </a:avLst>
          </a:prstGeom>
          <a:solidFill>
            <a:srgbClr val="EAF2F6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Shape 10"/>
          <p:cNvSpPr/>
          <p:nvPr/>
        </p:nvSpPr>
        <p:spPr>
          <a:xfrm>
            <a:off x="4572000" y="2267712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7380" y="2333092"/>
            <a:ext cx="372161" cy="37216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72000" y="292608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CI/CD pipeline (basic setup)  ·  DWSO-17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4572000" y="3703320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7" name="Text 13"/>
          <p:cNvSpPr/>
          <p:nvPr/>
        </p:nvSpPr>
        <p:spPr>
          <a:xfrm>
            <a:off x="4572000" y="37033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  ·  7 days overdue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4572000" y="425196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+ CI skeleton exists; automated test/deploy stages not wired up yet.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8138160" y="2011680"/>
            <a:ext cx="3520440" cy="3383280"/>
          </a:xfrm>
          <a:prstGeom prst="roundRect">
            <a:avLst>
              <a:gd name="adj" fmla="val 2162"/>
            </a:avLst>
          </a:prstGeom>
          <a:solidFill>
            <a:srgbClr val="EAF2F6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0" name="Shape 16"/>
          <p:cNvSpPr/>
          <p:nvPr/>
        </p:nvSpPr>
        <p:spPr>
          <a:xfrm>
            <a:off x="8366760" y="2267712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2140" y="2333092"/>
            <a:ext cx="372161" cy="372161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366760" y="292608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BLE hardware status + Sprint 3 grooming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8366760" y="3703320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4" name="Text 19"/>
          <p:cNvSpPr/>
          <p:nvPr/>
        </p:nvSpPr>
        <p:spPr>
          <a:xfrm>
            <a:off x="8366760" y="37033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Do  ·  7 days overdue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8366760" y="425196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on firmware/BLE team confirming hardware availability.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DSS Wearable App · StackOverflower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REPORT / ISSUE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Issue Spotlight: Postgres-Only IDs Broke Testing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25780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5257800" cy="457200"/>
          </a:xfrm>
          <a:prstGeom prst="roundRect">
            <a:avLst>
              <a:gd name="adj" fmla="val 1600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5257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root cause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7240" y="2258568"/>
            <a:ext cx="82296" cy="82296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1005840" y="210312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models.py used sqlalchemy.dialects.postgresql.UUID directly as the primary-key type on every table.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77240" y="3054096"/>
            <a:ext cx="82296" cy="82296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1005840" y="2898648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 called Base.metadata.create_all() at import time — the app crashed on startup whenever Postgres wasn’t reachable.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77240" y="3849624"/>
            <a:ext cx="82296" cy="82296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1005840" y="3694176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effect: the pytest suite couldn’t run against SQLite, and local dev broke without a live DB.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382512" y="1508760"/>
            <a:ext cx="525780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4" name="Shape 12"/>
          <p:cNvSpPr/>
          <p:nvPr/>
        </p:nvSpPr>
        <p:spPr>
          <a:xfrm>
            <a:off x="6382512" y="1508760"/>
            <a:ext cx="5257800" cy="457200"/>
          </a:xfrm>
          <a:prstGeom prst="roundRect">
            <a:avLst>
              <a:gd name="adj" fmla="val 16000"/>
            </a:avLst>
          </a:prstGeom>
          <a:solidFill>
            <a:srgbClr val="2E8B5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6382512" y="1508760"/>
            <a:ext cx="5257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decision &amp; fix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611112" y="2258568"/>
            <a:ext cx="82296" cy="82296"/>
          </a:xfrm>
          <a:prstGeom prst="ellipse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7" name="Text 15"/>
          <p:cNvSpPr/>
          <p:nvPr/>
        </p:nvSpPr>
        <p:spPr>
          <a:xfrm>
            <a:off x="6839712" y="210312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a custom cross-dialect GUID type (app/types.py): native UUID on Postgres in production, CHAR(36) on SQLite for tests.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611112" y="3054096"/>
            <a:ext cx="82296" cy="82296"/>
          </a:xfrm>
          <a:prstGeom prst="ellipse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9" name="Text 17"/>
          <p:cNvSpPr/>
          <p:nvPr/>
        </p:nvSpPr>
        <p:spPr>
          <a:xfrm>
            <a:off x="6839712" y="2898648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Wrapped table creation in a lifespan hook with try/except — a missing DB now logs a warning instead of crashing the app.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611112" y="3849624"/>
            <a:ext cx="82296" cy="82296"/>
          </a:xfrm>
          <a:prstGeom prst="ellipse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1" name="Text 19"/>
          <p:cNvSpPr/>
          <p:nvPr/>
        </p:nvSpPr>
        <p:spPr>
          <a:xfrm>
            <a:off x="6839712" y="3694176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all 21 backend tests run in-memory, with no Postgres instance or Firebase project required.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480060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0A2E4D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3" name="Text 21"/>
          <p:cNvSpPr/>
          <p:nvPr/>
        </p:nvSpPr>
        <p:spPr>
          <a:xfrm>
            <a:off x="777240" y="4800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Backend team (self).  </a:t>
            </a: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Unblocks CI and lets any teammate run the test suite locally with zero environment setup.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54406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history confirms it: commit 0dbd0cc "grouped backend files, created mobile app shell" (Aug 3) is where the app/ package landed — the root-level files are pre-refactor leftovers.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DSS Wearable App · StackOverflower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DISCUSSION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Decisions Shaping Sprint 2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457200" cy="457200"/>
          </a:xfrm>
          <a:prstGeom prst="ellipse">
            <a:avLst/>
          </a:prstGeom>
          <a:solidFill>
            <a:srgbClr val="0A2E4D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1522476"/>
            <a:ext cx="338328" cy="3383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408176"/>
            <a:ext cx="1042416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0A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stack  —  </a:t>
            </a: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 Python / FastAPI over C++ or Java — keeps mobile and backend teams aligned on one contract-first workflow.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23774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2436876"/>
            <a:ext cx="338328" cy="33832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2322576"/>
            <a:ext cx="1042416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0A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 —  </a:t>
            </a: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the custom JWT skeleton with Firebase Authentication — Firebase owns credential storage; the backend only verifies ID tokens.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rgbClr val="0A2E4D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3351276"/>
            <a:ext cx="338328" cy="33832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88720" y="3236976"/>
            <a:ext cx="1042416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0A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requirements (kickoff w/ Dr. Sundar)  —  </a:t>
            </a: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Wi-Fi/BLE prioritized, NFC explicitly deferred; app must work offline; cloud sync required for continuous monitoring — this directly shaped Sprint 2’s BLE-pairing and device-registration priorities over NFC work.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548640" y="4352544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4411980"/>
            <a:ext cx="338328" cy="33832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88720" y="4297680"/>
            <a:ext cx="1042416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0A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decision  —  </a:t>
            </a: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device_sessions API endpoints deliberately deferred past Sprint 2 — the DB table exists, but connect/disconnect tracking endpoints are not built yet (carried into Sprint 3 planning).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548640" y="5266944"/>
            <a:ext cx="457200" cy="457200"/>
          </a:xfrm>
          <a:prstGeom prst="ellipse">
            <a:avLst/>
          </a:prstGeom>
          <a:solidFill>
            <a:srgbClr val="0A2E4D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5326380"/>
            <a:ext cx="338328" cy="33832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188720" y="5212080"/>
            <a:ext cx="1042416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0A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Tech-debt flagged  —  </a:t>
            </a: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duplicate backend files from before the app/ package refactor (root-level main.py, models.py, etc.) still sit in the repo — team agreed to delete them next sprint to avoid two competing sources of truth.</a:t>
            </a:r>
            <a:endParaRPr lang="en-US" sz="1250" dirty="0"/>
          </a:p>
        </p:txBody>
      </p:sp>
      <p:sp>
        <p:nvSpPr>
          <p:cNvPr id="19" name="Text 1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DSS Wearable App · StackOverflower</a:t>
            </a:r>
            <a:endParaRPr lang="en-US" sz="900" dirty="0"/>
          </a:p>
        </p:txBody>
      </p:sp>
      <p:sp>
        <p:nvSpPr>
          <p:cNvPr id="20" name="Text 13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DISCUSSION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Meetings This Sprint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team stayed aligned during the 10–24 Aug sprint — cadence and a snapshot from one of our sessions.</a:t>
            </a:r>
            <a:endParaRPr lang="en-US" sz="1400" dirty="0"/>
          </a:p>
        </p:txBody>
      </p:sp>
      <p:sp>
        <p:nvSpPr>
          <p:cNvPr id="5" name="Stat"/>
          <p:cNvSpPr/>
          <p:nvPr/>
        </p:nvSpPr>
        <p:spPr>
          <a:xfrm>
            <a:off x="548640" y="1950000"/>
            <a:ext cx="650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E4D"/>
                </a:solidFill>
                <a:latin typeface="Cambria" pitchFamily="34" charset="0"/>
              </a:rPr>
              <a:t>4 team meetings this sprint</a:t>
            </a:r>
            <a:endParaRPr lang="en-US" sz="1600" dirty="0"/>
          </a:p>
        </p:txBody>
      </p:sp>
      <p:sp>
        <p:nvSpPr>
          <p:cNvPr id="6" name="Dot"/>
          <p:cNvSpPr/>
          <p:nvPr/>
        </p:nvSpPr>
        <p:spPr>
          <a:xfrm>
            <a:off x="548640" y="2500000"/>
            <a:ext cx="365760" cy="365760"/>
          </a:xfrm>
          <a:prstGeom prst="ellipse">
            <a:avLst/>
          </a:prstGeom>
          <a:solidFill>
            <a:srgbClr val="0A2E4D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Row Text"/>
          <p:cNvSpPr/>
          <p:nvPr/>
        </p:nvSpPr>
        <p:spPr>
          <a:xfrm>
            <a:off x="1051560" y="2454280"/>
            <a:ext cx="5597080" cy="9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0A2E4D"/>
                </a:solidFill>
                <a:latin typeface="Calibri" pitchFamily="34" charset="0"/>
              </a:rPr>
              <a:t>Trade Show Meetings (×2)  ·  6 Aug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</a:rPr>
              <a:t>Short check-ins with the attendees from both the morning and afternoon trade-show sessions.</a:t>
            </a:r>
          </a:p>
        </p:txBody>
      </p:sp>
      <p:sp>
        <p:nvSpPr>
          <p:cNvPr id="8" name="Dot"/>
          <p:cNvSpPr/>
          <p:nvPr/>
        </p:nvSpPr>
        <p:spPr>
          <a:xfrm>
            <a:off x="548640" y="355000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Row Text"/>
          <p:cNvSpPr/>
          <p:nvPr/>
        </p:nvSpPr>
        <p:spPr>
          <a:xfrm>
            <a:off x="1051560" y="3504280"/>
            <a:ext cx="5597080" cy="9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0A2E4D"/>
                </a:solidFill>
                <a:latin typeface="Calibri" pitchFamily="34" charset="0"/>
              </a:rPr>
              <a:t>Client Meeting Follow-up  ·  11 Aug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</a:rPr>
              <a:t>After the client meeting, the team used the meeting log to discuss and agree on app-design revisions.</a:t>
            </a:r>
          </a:p>
        </p:txBody>
      </p:sp>
      <p:sp>
        <p:nvSpPr>
          <p:cNvPr id="10" name="Dot"/>
          <p:cNvSpPr/>
          <p:nvPr/>
        </p:nvSpPr>
        <p:spPr>
          <a:xfrm>
            <a:off x="548640" y="4600000"/>
            <a:ext cx="365760" cy="365760"/>
          </a:xfrm>
          <a:prstGeom prst="ellipse">
            <a:avLst/>
          </a:prstGeom>
          <a:solidFill>
            <a:srgbClr val="0A2E4D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1" name="Row Text"/>
          <p:cNvSpPr/>
          <p:nvPr/>
        </p:nvSpPr>
        <p:spPr>
          <a:xfrm>
            <a:off x="1051560" y="4554280"/>
            <a:ext cx="5597080" cy="9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0A2E4D"/>
                </a:solidFill>
                <a:latin typeface="Calibri" pitchFamily="34" charset="0"/>
              </a:rPr>
              <a:t>Regular Team Meeting (in-person)  ·  17 Aug, 1–3pm · TLS-211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</a:rPr>
              <a:t>Finalized the items the team had previously discussed.</a:t>
            </a:r>
          </a:p>
        </p:txBody>
      </p:sp>
      <p:sp>
        <p:nvSpPr>
          <p:cNvPr id="12" name="PhotoFrame"/>
          <p:cNvSpPr/>
          <p:nvPr/>
        </p:nvSpPr>
        <p:spPr>
          <a:xfrm rot="5400000">
            <a:off x="6948640" y="2500000"/>
            <a:ext cx="4644040" cy="3150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9050">
            <a:solidFill>
              <a:srgbClr val="1C7293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14" name="Text F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DSS Wearable App · StackOverflower</a:t>
            </a:r>
            <a:endParaRPr lang="en-US" sz="900" dirty="0"/>
          </a:p>
        </p:txBody>
      </p:sp>
      <p:sp>
        <p:nvSpPr>
          <p:cNvPr id="15" name="Text F1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A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 OF NEW TASKS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3 — Proposed Task Allocation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4160520" cy="420624"/>
          </a:xfrm>
          <a:prstGeom prst="rect">
            <a:avLst/>
          </a:prstGeom>
          <a:solidFill>
            <a:srgbClr val="0A2E4D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658368" y="1371600"/>
            <a:ext cx="3977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709160" y="1371600"/>
            <a:ext cx="2331720" cy="420624"/>
          </a:xfrm>
          <a:prstGeom prst="rect">
            <a:avLst/>
          </a:prstGeom>
          <a:solidFill>
            <a:srgbClr val="0A2E4D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4818888" y="1371600"/>
            <a:ext cx="2148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040880" y="1371600"/>
            <a:ext cx="1051560" cy="420624"/>
          </a:xfrm>
          <a:prstGeom prst="rect">
            <a:avLst/>
          </a:prstGeom>
          <a:solidFill>
            <a:srgbClr val="0A2E4D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7150608" y="1371600"/>
            <a:ext cx="868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92440" y="1371600"/>
            <a:ext cx="3547872" cy="420624"/>
          </a:xfrm>
          <a:prstGeom prst="rect">
            <a:avLst/>
          </a:prstGeom>
          <a:solidFill>
            <a:srgbClr val="0A2E4D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8202168" y="1371600"/>
            <a:ext cx="33649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1792224"/>
            <a:ext cx="4160520" cy="576072"/>
          </a:xfrm>
          <a:prstGeom prst="rect">
            <a:avLst/>
          </a:prstGeom>
          <a:solidFill>
            <a:srgbClr val="F5F9FB"/>
          </a:solidFill>
          <a:ln w="6350">
            <a:solidFill>
              <a:srgbClr val="DCE6E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1"/>
          <p:cNvSpPr/>
          <p:nvPr/>
        </p:nvSpPr>
        <p:spPr>
          <a:xfrm>
            <a:off x="658368" y="1792224"/>
            <a:ext cx="3959352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login/signup + Firebase project setup (carryover)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4709160" y="1792224"/>
            <a:ext cx="2331720" cy="576072"/>
          </a:xfrm>
          <a:prstGeom prst="rect">
            <a:avLst/>
          </a:prstGeom>
          <a:solidFill>
            <a:srgbClr val="F5F9FB"/>
          </a:solidFill>
          <a:ln w="6350">
            <a:solidFill>
              <a:srgbClr val="DCE6E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4818888" y="1792224"/>
            <a:ext cx="2130552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iman (Frontend) / </a:t>
            </a:r>
            <a:r>
              <a:rPr lang="en-US" sz="93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Amodya</a:t>
            </a:r>
            <a:r>
              <a:rPr lang="en-US" sz="9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(UI)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7040880" y="1792224"/>
            <a:ext cx="1051560" cy="576072"/>
          </a:xfrm>
          <a:prstGeom prst="rect">
            <a:avLst/>
          </a:prstGeom>
          <a:solidFill>
            <a:srgbClr val="F5F9FB"/>
          </a:solidFill>
          <a:ln w="6350">
            <a:solidFill>
              <a:srgbClr val="DCE6E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Shape 15"/>
          <p:cNvSpPr/>
          <p:nvPr/>
        </p:nvSpPr>
        <p:spPr>
          <a:xfrm>
            <a:off x="7264908" y="1933956"/>
            <a:ext cx="603504" cy="29260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/>
          <p:nvPr/>
        </p:nvSpPr>
        <p:spPr>
          <a:xfrm>
            <a:off x="7264908" y="1933956"/>
            <a:ext cx="6035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092440" y="1792224"/>
            <a:ext cx="3547872" cy="576072"/>
          </a:xfrm>
          <a:prstGeom prst="rect">
            <a:avLst/>
          </a:prstGeom>
          <a:solidFill>
            <a:srgbClr val="F5F9FB"/>
          </a:solidFill>
          <a:ln w="6350">
            <a:solidFill>
              <a:srgbClr val="DCE6E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0" name="Text 18"/>
          <p:cNvSpPr/>
          <p:nvPr/>
        </p:nvSpPr>
        <p:spPr>
          <a:xfrm>
            <a:off x="8202168" y="1792224"/>
            <a:ext cx="3346704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every auth-gated screen already built</a:t>
            </a:r>
            <a:endParaRPr lang="en-US" sz="930" dirty="0"/>
          </a:p>
        </p:txBody>
      </p:sp>
      <p:sp>
        <p:nvSpPr>
          <p:cNvPr id="21" name="Shape 19"/>
          <p:cNvSpPr/>
          <p:nvPr/>
        </p:nvSpPr>
        <p:spPr>
          <a:xfrm>
            <a:off x="548640" y="2368296"/>
            <a:ext cx="416052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2" name="Text 20"/>
          <p:cNvSpPr/>
          <p:nvPr/>
        </p:nvSpPr>
        <p:spPr>
          <a:xfrm>
            <a:off x="658368" y="2368296"/>
            <a:ext cx="3959352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cloud DB schema + CI/CD pipeline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4709160" y="2368296"/>
            <a:ext cx="233172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4" name="Text 22"/>
          <p:cNvSpPr/>
          <p:nvPr/>
        </p:nvSpPr>
        <p:spPr>
          <a:xfrm>
            <a:off x="4818888" y="2368296"/>
            <a:ext cx="2130552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Nishad (Cloud)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7040880" y="2368296"/>
            <a:ext cx="105156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6" name="Shape 24"/>
          <p:cNvSpPr/>
          <p:nvPr/>
        </p:nvSpPr>
        <p:spPr>
          <a:xfrm>
            <a:off x="7264908" y="2510028"/>
            <a:ext cx="603504" cy="29260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7" name="Text 25"/>
          <p:cNvSpPr/>
          <p:nvPr/>
        </p:nvSpPr>
        <p:spPr>
          <a:xfrm>
            <a:off x="7264908" y="2510028"/>
            <a:ext cx="6035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092440" y="2368296"/>
            <a:ext cx="3547872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9" name="Text 27"/>
          <p:cNvSpPr/>
          <p:nvPr/>
        </p:nvSpPr>
        <p:spPr>
          <a:xfrm>
            <a:off x="8202168" y="2368296"/>
            <a:ext cx="3346704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days overdue; blocks reliable deploys &amp; Alembic migrations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48640" y="2944368"/>
            <a:ext cx="4160520" cy="576072"/>
          </a:xfrm>
          <a:prstGeom prst="rect">
            <a:avLst/>
          </a:prstGeom>
          <a:solidFill>
            <a:srgbClr val="F5F9FB"/>
          </a:solidFill>
          <a:ln w="6350">
            <a:solidFill>
              <a:srgbClr val="DCE6E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1" name="Text 29"/>
          <p:cNvSpPr/>
          <p:nvPr/>
        </p:nvSpPr>
        <p:spPr>
          <a:xfrm>
            <a:off x="658368" y="2944368"/>
            <a:ext cx="3959352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device_sessions API endpoints (connect/disconnect)</a:t>
            </a:r>
            <a:endParaRPr lang="en-US" sz="930" dirty="0"/>
          </a:p>
        </p:txBody>
      </p:sp>
      <p:sp>
        <p:nvSpPr>
          <p:cNvPr id="32" name="Shape 30"/>
          <p:cNvSpPr/>
          <p:nvPr/>
        </p:nvSpPr>
        <p:spPr>
          <a:xfrm>
            <a:off x="4709160" y="2944368"/>
            <a:ext cx="2331720" cy="576072"/>
          </a:xfrm>
          <a:prstGeom prst="rect">
            <a:avLst/>
          </a:prstGeom>
          <a:solidFill>
            <a:srgbClr val="F5F9FB"/>
          </a:solidFill>
          <a:ln w="6350">
            <a:solidFill>
              <a:srgbClr val="DCE6E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3" name="Text 31"/>
          <p:cNvSpPr/>
          <p:nvPr/>
        </p:nvSpPr>
        <p:spPr>
          <a:xfrm>
            <a:off x="4818888" y="2944368"/>
            <a:ext cx="2130552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3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Youngho</a:t>
            </a:r>
            <a:r>
              <a:rPr lang="en-US" sz="9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(Backend)</a:t>
            </a:r>
            <a:endParaRPr lang="en-US" sz="930" dirty="0"/>
          </a:p>
        </p:txBody>
      </p:sp>
      <p:sp>
        <p:nvSpPr>
          <p:cNvPr id="34" name="Shape 32"/>
          <p:cNvSpPr/>
          <p:nvPr/>
        </p:nvSpPr>
        <p:spPr>
          <a:xfrm>
            <a:off x="7040880" y="2944368"/>
            <a:ext cx="1051560" cy="576072"/>
          </a:xfrm>
          <a:prstGeom prst="rect">
            <a:avLst/>
          </a:prstGeom>
          <a:solidFill>
            <a:srgbClr val="F5F9FB"/>
          </a:solidFill>
          <a:ln w="6350">
            <a:solidFill>
              <a:srgbClr val="DCE6E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5" name="Shape 33"/>
          <p:cNvSpPr/>
          <p:nvPr/>
        </p:nvSpPr>
        <p:spPr>
          <a:xfrm>
            <a:off x="7264908" y="3086100"/>
            <a:ext cx="603504" cy="29260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6" name="Text 34"/>
          <p:cNvSpPr/>
          <p:nvPr/>
        </p:nvSpPr>
        <p:spPr>
          <a:xfrm>
            <a:off x="7264908" y="3086100"/>
            <a:ext cx="6035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092440" y="2944368"/>
            <a:ext cx="3547872" cy="576072"/>
          </a:xfrm>
          <a:prstGeom prst="rect">
            <a:avLst/>
          </a:prstGeom>
          <a:solidFill>
            <a:srgbClr val="F5F9FB"/>
          </a:solidFill>
          <a:ln w="6350">
            <a:solidFill>
              <a:srgbClr val="DCE6E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8" name="Text 36"/>
          <p:cNvSpPr/>
          <p:nvPr/>
        </p:nvSpPr>
        <p:spPr>
          <a:xfrm>
            <a:off x="8202168" y="2944368"/>
            <a:ext cx="3346704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model already exists; completes data-model coverage</a:t>
            </a:r>
            <a:endParaRPr lang="en-US" sz="930" dirty="0"/>
          </a:p>
        </p:txBody>
      </p:sp>
      <p:sp>
        <p:nvSpPr>
          <p:cNvPr id="39" name="Shape 37"/>
          <p:cNvSpPr/>
          <p:nvPr/>
        </p:nvSpPr>
        <p:spPr>
          <a:xfrm>
            <a:off x="548640" y="3520440"/>
            <a:ext cx="416052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0" name="Text 38"/>
          <p:cNvSpPr/>
          <p:nvPr/>
        </p:nvSpPr>
        <p:spPr>
          <a:xfrm>
            <a:off x="658368" y="3520440"/>
            <a:ext cx="3959352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 hardware status validation + Sprint 3 grooming</a:t>
            </a:r>
            <a:endParaRPr lang="en-US" sz="930" dirty="0"/>
          </a:p>
        </p:txBody>
      </p:sp>
      <p:sp>
        <p:nvSpPr>
          <p:cNvPr id="41" name="Shape 39"/>
          <p:cNvSpPr/>
          <p:nvPr/>
        </p:nvSpPr>
        <p:spPr>
          <a:xfrm>
            <a:off x="4709160" y="3520440"/>
            <a:ext cx="233172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2" name="Text 40"/>
          <p:cNvSpPr/>
          <p:nvPr/>
        </p:nvSpPr>
        <p:spPr>
          <a:xfrm>
            <a:off x="4818888" y="3520440"/>
            <a:ext cx="2130552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Sarvesh (Fullstack)</a:t>
            </a:r>
            <a:endParaRPr lang="en-US" sz="930" dirty="0"/>
          </a:p>
        </p:txBody>
      </p:sp>
      <p:sp>
        <p:nvSpPr>
          <p:cNvPr id="43" name="Shape 41"/>
          <p:cNvSpPr/>
          <p:nvPr/>
        </p:nvSpPr>
        <p:spPr>
          <a:xfrm>
            <a:off x="7040880" y="3520440"/>
            <a:ext cx="105156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4" name="Shape 42"/>
          <p:cNvSpPr/>
          <p:nvPr/>
        </p:nvSpPr>
        <p:spPr>
          <a:xfrm>
            <a:off x="7264908" y="3662172"/>
            <a:ext cx="603504" cy="29260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5" name="Text 43"/>
          <p:cNvSpPr/>
          <p:nvPr/>
        </p:nvSpPr>
        <p:spPr>
          <a:xfrm>
            <a:off x="7264908" y="3662172"/>
            <a:ext cx="6035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092440" y="3520440"/>
            <a:ext cx="3547872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7" name="Text 45"/>
          <p:cNvSpPr/>
          <p:nvPr/>
        </p:nvSpPr>
        <p:spPr>
          <a:xfrm>
            <a:off x="8202168" y="3520440"/>
            <a:ext cx="3346704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on firmware/BLE team; needs early follow-up</a:t>
            </a:r>
            <a:endParaRPr lang="en-US" sz="930" dirty="0"/>
          </a:p>
        </p:txBody>
      </p:sp>
      <p:sp>
        <p:nvSpPr>
          <p:cNvPr id="48" name="Shape 46"/>
          <p:cNvSpPr/>
          <p:nvPr/>
        </p:nvSpPr>
        <p:spPr>
          <a:xfrm>
            <a:off x="548640" y="4096512"/>
            <a:ext cx="4160520" cy="576072"/>
          </a:xfrm>
          <a:prstGeom prst="rect">
            <a:avLst/>
          </a:prstGeom>
          <a:solidFill>
            <a:srgbClr val="F5F9FB"/>
          </a:solidFill>
          <a:ln w="6350">
            <a:solidFill>
              <a:srgbClr val="DCE6E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9" name="Text 47"/>
          <p:cNvSpPr/>
          <p:nvPr/>
        </p:nvSpPr>
        <p:spPr>
          <a:xfrm>
            <a:off x="658368" y="4096512"/>
            <a:ext cx="3959352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Connection-history UI + sensor-data seed/simulation tool</a:t>
            </a:r>
            <a:endParaRPr lang="en-US" sz="930" dirty="0"/>
          </a:p>
        </p:txBody>
      </p:sp>
      <p:sp>
        <p:nvSpPr>
          <p:cNvPr id="50" name="Shape 48"/>
          <p:cNvSpPr/>
          <p:nvPr/>
        </p:nvSpPr>
        <p:spPr>
          <a:xfrm>
            <a:off x="4709160" y="4096512"/>
            <a:ext cx="2331720" cy="576072"/>
          </a:xfrm>
          <a:prstGeom prst="rect">
            <a:avLst/>
          </a:prstGeom>
          <a:solidFill>
            <a:srgbClr val="F5F9FB"/>
          </a:solidFill>
          <a:ln w="6350">
            <a:solidFill>
              <a:srgbClr val="DCE6E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1" name="Text 49"/>
          <p:cNvSpPr/>
          <p:nvPr/>
        </p:nvSpPr>
        <p:spPr>
          <a:xfrm>
            <a:off x="4818888" y="4096512"/>
            <a:ext cx="2130552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iman / </a:t>
            </a:r>
            <a:r>
              <a:rPr lang="en-US" sz="93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Amodya</a:t>
            </a:r>
            <a:endParaRPr lang="en-US" sz="930" dirty="0"/>
          </a:p>
        </p:txBody>
      </p:sp>
      <p:sp>
        <p:nvSpPr>
          <p:cNvPr id="52" name="Shape 50"/>
          <p:cNvSpPr/>
          <p:nvPr/>
        </p:nvSpPr>
        <p:spPr>
          <a:xfrm>
            <a:off x="7040880" y="4096512"/>
            <a:ext cx="1051560" cy="576072"/>
          </a:xfrm>
          <a:prstGeom prst="rect">
            <a:avLst/>
          </a:prstGeom>
          <a:solidFill>
            <a:srgbClr val="F5F9FB"/>
          </a:solidFill>
          <a:ln w="6350">
            <a:solidFill>
              <a:srgbClr val="DCE6E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3" name="Shape 51"/>
          <p:cNvSpPr/>
          <p:nvPr/>
        </p:nvSpPr>
        <p:spPr>
          <a:xfrm>
            <a:off x="7264908" y="4238244"/>
            <a:ext cx="603504" cy="29260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4" name="Text 52"/>
          <p:cNvSpPr/>
          <p:nvPr/>
        </p:nvSpPr>
        <p:spPr>
          <a:xfrm>
            <a:off x="7264908" y="4238244"/>
            <a:ext cx="6035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8092440" y="4096512"/>
            <a:ext cx="3547872" cy="576072"/>
          </a:xfrm>
          <a:prstGeom prst="rect">
            <a:avLst/>
          </a:prstGeom>
          <a:solidFill>
            <a:srgbClr val="F5F9FB"/>
          </a:solidFill>
          <a:ln w="6350">
            <a:solidFill>
              <a:srgbClr val="DCE6E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6" name="Text 54"/>
          <p:cNvSpPr/>
          <p:nvPr/>
        </p:nvSpPr>
        <p:spPr>
          <a:xfrm>
            <a:off x="8202168" y="4096512"/>
            <a:ext cx="3346704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 for a demoable trends screen, not launch-blocking</a:t>
            </a:r>
            <a:endParaRPr lang="en-US" sz="930" dirty="0"/>
          </a:p>
        </p:txBody>
      </p:sp>
      <p:sp>
        <p:nvSpPr>
          <p:cNvPr id="57" name="Shape 55"/>
          <p:cNvSpPr/>
          <p:nvPr/>
        </p:nvSpPr>
        <p:spPr>
          <a:xfrm>
            <a:off x="548640" y="4672584"/>
            <a:ext cx="416052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8" name="Text 56"/>
          <p:cNvSpPr/>
          <p:nvPr/>
        </p:nvSpPr>
        <p:spPr>
          <a:xfrm>
            <a:off x="658368" y="4672584"/>
            <a:ext cx="3959352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spike: API+normalizer vs. raw BLE for sensor ingestion</a:t>
            </a:r>
            <a:endParaRPr lang="en-US" sz="930" dirty="0"/>
          </a:p>
        </p:txBody>
      </p:sp>
      <p:sp>
        <p:nvSpPr>
          <p:cNvPr id="59" name="Shape 57"/>
          <p:cNvSpPr/>
          <p:nvPr/>
        </p:nvSpPr>
        <p:spPr>
          <a:xfrm>
            <a:off x="4709160" y="4672584"/>
            <a:ext cx="233172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0" name="Text 58"/>
          <p:cNvSpPr/>
          <p:nvPr/>
        </p:nvSpPr>
        <p:spPr>
          <a:xfrm>
            <a:off x="4818888" y="4672584"/>
            <a:ext cx="2130552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/ Sarvesh</a:t>
            </a:r>
            <a:endParaRPr lang="en-US" sz="930" dirty="0"/>
          </a:p>
        </p:txBody>
      </p:sp>
      <p:sp>
        <p:nvSpPr>
          <p:cNvPr id="61" name="Shape 59"/>
          <p:cNvSpPr/>
          <p:nvPr/>
        </p:nvSpPr>
        <p:spPr>
          <a:xfrm>
            <a:off x="7040880" y="4672584"/>
            <a:ext cx="105156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2" name="Shape 60"/>
          <p:cNvSpPr/>
          <p:nvPr/>
        </p:nvSpPr>
        <p:spPr>
          <a:xfrm>
            <a:off x="7264908" y="4814316"/>
            <a:ext cx="603504" cy="29260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3" name="Text 61"/>
          <p:cNvSpPr/>
          <p:nvPr/>
        </p:nvSpPr>
        <p:spPr>
          <a:xfrm>
            <a:off x="7264908" y="4814316"/>
            <a:ext cx="6035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8092440" y="4672584"/>
            <a:ext cx="3547872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5" name="Text 63"/>
          <p:cNvSpPr/>
          <p:nvPr/>
        </p:nvSpPr>
        <p:spPr>
          <a:xfrm>
            <a:off x="8202168" y="4672584"/>
            <a:ext cx="3346704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to raw BLE parsing under evaluation — needs more research before committing</a:t>
            </a:r>
            <a:endParaRPr lang="en-US" sz="930" dirty="0"/>
          </a:p>
        </p:txBody>
      </p:sp>
      <p:sp>
        <p:nvSpPr>
          <p:cNvPr id="66" name="Shape 64"/>
          <p:cNvSpPr/>
          <p:nvPr/>
        </p:nvSpPr>
        <p:spPr>
          <a:xfrm>
            <a:off x="548640" y="5248656"/>
            <a:ext cx="4160520" cy="576072"/>
          </a:xfrm>
          <a:prstGeom prst="rect">
            <a:avLst/>
          </a:prstGeom>
          <a:solidFill>
            <a:srgbClr val="F5F9FB"/>
          </a:solidFill>
          <a:ln w="6350">
            <a:solidFill>
              <a:srgbClr val="DCE6E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7" name="Text 65"/>
          <p:cNvSpPr/>
          <p:nvPr/>
        </p:nvSpPr>
        <p:spPr>
          <a:xfrm>
            <a:off x="658368" y="5248656"/>
            <a:ext cx="3959352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NFC pairing (research spike only)</a:t>
            </a:r>
            <a:endParaRPr lang="en-US" sz="930" dirty="0"/>
          </a:p>
        </p:txBody>
      </p:sp>
      <p:sp>
        <p:nvSpPr>
          <p:cNvPr id="68" name="Shape 66"/>
          <p:cNvSpPr/>
          <p:nvPr/>
        </p:nvSpPr>
        <p:spPr>
          <a:xfrm>
            <a:off x="4709160" y="5248656"/>
            <a:ext cx="2331720" cy="576072"/>
          </a:xfrm>
          <a:prstGeom prst="rect">
            <a:avLst/>
          </a:prstGeom>
          <a:solidFill>
            <a:srgbClr val="F5F9FB"/>
          </a:solidFill>
          <a:ln w="6350">
            <a:solidFill>
              <a:srgbClr val="DCE6E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9" name="Text 67"/>
          <p:cNvSpPr/>
          <p:nvPr/>
        </p:nvSpPr>
        <p:spPr>
          <a:xfrm>
            <a:off x="4818888" y="5248656"/>
            <a:ext cx="2130552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team (light touch)</a:t>
            </a:r>
            <a:endParaRPr lang="en-US" sz="930" dirty="0"/>
          </a:p>
        </p:txBody>
      </p:sp>
      <p:sp>
        <p:nvSpPr>
          <p:cNvPr id="70" name="Shape 68"/>
          <p:cNvSpPr/>
          <p:nvPr/>
        </p:nvSpPr>
        <p:spPr>
          <a:xfrm>
            <a:off x="7040880" y="5248656"/>
            <a:ext cx="1051560" cy="576072"/>
          </a:xfrm>
          <a:prstGeom prst="rect">
            <a:avLst/>
          </a:prstGeom>
          <a:solidFill>
            <a:srgbClr val="F5F9FB"/>
          </a:solidFill>
          <a:ln w="6350">
            <a:solidFill>
              <a:srgbClr val="DCE6E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1" name="Shape 69"/>
          <p:cNvSpPr/>
          <p:nvPr/>
        </p:nvSpPr>
        <p:spPr>
          <a:xfrm>
            <a:off x="7264908" y="5390388"/>
            <a:ext cx="603504" cy="292608"/>
          </a:xfrm>
          <a:prstGeom prst="roundRect">
            <a:avLst>
              <a:gd name="adj" fmla="val 50000"/>
            </a:avLst>
          </a:prstGeom>
          <a:solidFill>
            <a:srgbClr val="5B6B7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2" name="Text 70"/>
          <p:cNvSpPr/>
          <p:nvPr/>
        </p:nvSpPr>
        <p:spPr>
          <a:xfrm>
            <a:off x="7264908" y="5390388"/>
            <a:ext cx="6035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8092440" y="5248656"/>
            <a:ext cx="3547872" cy="576072"/>
          </a:xfrm>
          <a:prstGeom prst="rect">
            <a:avLst/>
          </a:prstGeom>
          <a:solidFill>
            <a:srgbClr val="F5F9FB"/>
          </a:solidFill>
          <a:ln w="6350">
            <a:solidFill>
              <a:srgbClr val="DCE6E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4" name="Text 72"/>
          <p:cNvSpPr/>
          <p:nvPr/>
        </p:nvSpPr>
        <p:spPr>
          <a:xfrm>
            <a:off x="8202168" y="5248656"/>
            <a:ext cx="3346704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explicitly deferred NFC — backlog spike, not a sprint commitment</a:t>
            </a:r>
            <a:endParaRPr lang="en-US" sz="930" dirty="0"/>
          </a:p>
        </p:txBody>
      </p:sp>
      <p:sp>
        <p:nvSpPr>
          <p:cNvPr id="75" name="Text 7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DSS Wearable App · StackOverflower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Reflection on Sprint 2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257800" cy="3246120"/>
          </a:xfrm>
          <a:prstGeom prst="roundRect">
            <a:avLst>
              <a:gd name="adj" fmla="val 2254"/>
            </a:avLst>
          </a:prstGeom>
          <a:solidFill>
            <a:srgbClr val="EAF2F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502920" cy="502920"/>
          </a:xfrm>
          <a:prstGeom prst="ellipse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620" y="1757020"/>
            <a:ext cx="372161" cy="3721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373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went well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77240" y="2395728"/>
            <a:ext cx="73152" cy="73152"/>
          </a:xfrm>
          <a:prstGeom prst="ellipse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Text 6"/>
          <p:cNvSpPr/>
          <p:nvPr/>
        </p:nvSpPr>
        <p:spPr>
          <a:xfrm>
            <a:off x="987552" y="2240280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Contract-first approach from Sprint 1 (API contract doc) let 5+ screens ship in parallel without integration churn.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77240" y="3191256"/>
            <a:ext cx="73152" cy="73152"/>
          </a:xfrm>
          <a:prstGeom prst="ellipse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1" name="Text 8"/>
          <p:cNvSpPr/>
          <p:nvPr/>
        </p:nvSpPr>
        <p:spPr>
          <a:xfrm>
            <a:off x="987552" y="3035808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 decision reduced the backend’s security surface — no password handling to get wrong.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77240" y="3986784"/>
            <a:ext cx="73152" cy="73152"/>
          </a:xfrm>
          <a:prstGeom prst="ellipse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3" name="Text 10"/>
          <p:cNvSpPr/>
          <p:nvPr/>
        </p:nvSpPr>
        <p:spPr>
          <a:xfrm>
            <a:off x="987552" y="3831336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GUID/test-suite fix means anyone on the team can run all 21 tests in under a minute, no environment setup.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126480" y="1604772"/>
            <a:ext cx="5257800" cy="3246120"/>
          </a:xfrm>
          <a:prstGeom prst="roundRect">
            <a:avLst>
              <a:gd name="adj" fmla="val 2254"/>
            </a:avLst>
          </a:prstGeom>
          <a:solidFill>
            <a:srgbClr val="EAF2F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5" name="Shape 12"/>
          <p:cNvSpPr/>
          <p:nvPr/>
        </p:nvSpPr>
        <p:spPr>
          <a:xfrm>
            <a:off x="6611112" y="169164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6492" y="1757020"/>
            <a:ext cx="372161" cy="372161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251192" y="17373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improve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6611112" y="2395728"/>
            <a:ext cx="73152" cy="73152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9" name="Text 15"/>
          <p:cNvSpPr/>
          <p:nvPr/>
        </p:nvSpPr>
        <p:spPr>
          <a:xfrm>
            <a:off x="6821424" y="2240280"/>
            <a:ext cx="4709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Infra/DevOps tickets (DB schema, CI/CD, hardware) consistently slip behind visible UI work — need a dedicated infra owner and earlier grooming.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6821424" y="3291840"/>
            <a:ext cx="4709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548640" y="489204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0A2E4D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3" name="Text 19"/>
          <p:cNvSpPr/>
          <p:nvPr/>
        </p:nvSpPr>
        <p:spPr>
          <a:xfrm>
            <a:off x="777240" y="489204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for final deliverables:  </a:t>
            </a: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MVP loop (auth → device registration → live sensor read → alerts) is on track for the demo; stretch scope (NFC, AI insights, multi-device streaming) is realistically at risk this semester and should be a descoping conversation with the client sooner rather than later.</a:t>
            </a:r>
            <a:endParaRPr lang="en-US" sz="1150" dirty="0"/>
          </a:p>
        </p:txBody>
      </p:sp>
      <p:sp>
        <p:nvSpPr>
          <p:cNvPr id="24" name="Text 2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DSS Wearable App · StackOverflower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2E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F3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Text 2"/>
          <p:cNvSpPr/>
          <p:nvPr/>
        </p:nvSpPr>
        <p:spPr>
          <a:xfrm>
            <a:off x="548640" y="246888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33375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42976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020" y="4363060"/>
            <a:ext cx="372161" cy="37216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4315968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github.com/Ezekiel-Lee  ·  StackOverflower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48920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020" y="4957420"/>
            <a:ext cx="372161" cy="37216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4910328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gongdeaseang@gmail.com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DSS Wearable App · StackOverflower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1860</Words>
  <Application>Microsoft Office PowerPoint</Application>
  <PresentationFormat>와이드스크린</PresentationFormat>
  <Paragraphs>227</Paragraphs>
  <Slides>14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Ezekiel Lee</cp:lastModifiedBy>
  <cp:revision>5</cp:revision>
  <dcterms:created xsi:type="dcterms:W3CDTF">2026-08-17T02:21:10Z</dcterms:created>
  <dcterms:modified xsi:type="dcterms:W3CDTF">2026-08-18T06:02:24Z</dcterms:modified>
</cp:coreProperties>
</file>